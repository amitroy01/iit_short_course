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8" r:id="rId6"/>
    <p:sldId id="269" r:id="rId7"/>
    <p:sldId id="274" r:id="rId8"/>
    <p:sldId id="271" r:id="rId9"/>
    <p:sldId id="273" r:id="rId10"/>
    <p:sldId id="275" r:id="rId11"/>
    <p:sldId id="266" r:id="rId12"/>
    <p:sldId id="276" r:id="rId13"/>
    <p:sldId id="277" r:id="rId14"/>
    <p:sldId id="267" r:id="rId15"/>
  </p:sldIdLst>
  <p:sldSz cx="12192000" cy="6858000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Cambria Math" panose="02040503050406030204" pitchFamily="18" charset="0"/>
      <p:regular r:id="rId21"/>
    </p:embeddedFont>
    <p:embeddedFont>
      <p:font typeface="Consolas" panose="020B0609020204030204" pitchFamily="49" charset="0"/>
      <p:regular r:id="rId22"/>
      <p:bold r:id="rId23"/>
      <p:italic r:id="rId24"/>
      <p:boldItalic r:id="rId25"/>
    </p:embeddedFont>
    <p:embeddedFont>
      <p:font typeface="Inter" panose="020B0604020202020204" charset="0"/>
      <p:regular r:id="rId26"/>
      <p:bold r:id="rId27"/>
      <p:italic r:id="rId28"/>
      <p:boldItalic r:id="rId29"/>
    </p:embeddedFont>
    <p:embeddedFont>
      <p:font typeface="Inter SemiBold" panose="020B060402020202020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C12EB88-41AC-4DC1-A0A4-FC1291BD09A9}">
  <a:tblStyle styleId="{8C12EB88-41AC-4DC1-A0A4-FC1291BD09A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21" Type="http://schemas.openxmlformats.org/officeDocument/2006/relationships/font" Target="fonts/font5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218560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54031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99499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225740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06896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17436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24069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268448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gif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85" name="Google Shape;85;p13"/>
          <p:cNvSpPr txBox="1"/>
          <p:nvPr/>
        </p:nvSpPr>
        <p:spPr>
          <a:xfrm>
            <a:off x="600404" y="1794224"/>
            <a:ext cx="11201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Python Functions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951187" y="2771311"/>
            <a:ext cx="106680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Making Code Simple, Reusable, and Organized</a:t>
            </a:r>
            <a:endParaRPr dirty="0"/>
          </a:p>
        </p:txBody>
      </p:sp>
      <p:pic>
        <p:nvPicPr>
          <p:cNvPr id="87" name="Google Shape;87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67700" y="300812"/>
            <a:ext cx="1656600" cy="11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3;p3">
            <a:extLst>
              <a:ext uri="{FF2B5EF4-FFF2-40B4-BE49-F238E27FC236}">
                <a16:creationId xmlns:a16="http://schemas.microsoft.com/office/drawing/2014/main" id="{79C664CE-263E-4D8A-8E67-3E000B4E21F6}"/>
              </a:ext>
            </a:extLst>
          </p:cNvPr>
          <p:cNvSpPr txBox="1"/>
          <p:nvPr/>
        </p:nvSpPr>
        <p:spPr>
          <a:xfrm>
            <a:off x="4219903" y="5313860"/>
            <a:ext cx="4400100" cy="975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lt1"/>
                </a:solidFill>
                <a:latin typeface="Cambria Math"/>
                <a:ea typeface="Cambria Math"/>
                <a:cs typeface="Cambria Math"/>
                <a:sym typeface="Cambria Math"/>
              </a:rPr>
              <a:t>Presented by:</a:t>
            </a:r>
            <a:endParaRPr sz="2400" b="1" dirty="0">
              <a:solidFill>
                <a:schemeClr val="lt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lt1"/>
                </a:solidFill>
                <a:latin typeface="Cambria Math"/>
                <a:ea typeface="Cambria Math"/>
                <a:cs typeface="Cambria Math"/>
                <a:sym typeface="Cambria Math"/>
              </a:rPr>
              <a:t>Amit Roy</a:t>
            </a:r>
            <a:endParaRPr sz="2400" b="1" dirty="0">
              <a:solidFill>
                <a:schemeClr val="lt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lt1"/>
                </a:solidFill>
                <a:latin typeface="Cambria Math"/>
                <a:ea typeface="Cambria Math"/>
                <a:cs typeface="Cambria Math"/>
                <a:sym typeface="Cambria Math"/>
              </a:rPr>
              <a:t>MSc Student at IIT</a:t>
            </a:r>
            <a:endParaRPr sz="2400" b="1" dirty="0">
              <a:solidFill>
                <a:schemeClr val="lt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id="2050" name="Picture 2" descr="Coding Python GIFs - Find &amp; Share on GIPHY">
            <a:extLst>
              <a:ext uri="{FF2B5EF4-FFF2-40B4-BE49-F238E27FC236}">
                <a16:creationId xmlns:a16="http://schemas.microsoft.com/office/drawing/2014/main" id="{2D7F32E9-4B38-41F7-9381-EA8AECD08914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8315" y="3234048"/>
            <a:ext cx="3080362" cy="2128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5619750" y="-57315"/>
            <a:ext cx="952500" cy="571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3379733" y="190335"/>
            <a:ext cx="5432534" cy="82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The Basics</a:t>
            </a:r>
            <a:endParaRPr dirty="0"/>
          </a:p>
        </p:txBody>
      </p:sp>
      <p:sp>
        <p:nvSpPr>
          <p:cNvPr id="95" name="Google Shape;95;p14"/>
          <p:cNvSpPr txBox="1"/>
          <p:nvPr/>
        </p:nvSpPr>
        <p:spPr>
          <a:xfrm>
            <a:off x="762000" y="120951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What are functions and why should we use them?</a:t>
            </a:r>
            <a:endParaRPr/>
          </a:p>
        </p:txBody>
      </p:sp>
      <p:pic>
        <p:nvPicPr>
          <p:cNvPr id="1026" name="Picture 2" descr="Understanding Functions in Python- Wakeupcoders | by Wakeupcoders - Think  Beyond Everything | Medium">
            <a:extLst>
              <a:ext uri="{FF2B5EF4-FFF2-40B4-BE49-F238E27FC236}">
                <a16:creationId xmlns:a16="http://schemas.microsoft.com/office/drawing/2014/main" id="{8A50660F-DB09-42EB-AA63-D8C1C2D6695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6152" y="1704810"/>
            <a:ext cx="8113986" cy="4570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1466850"/>
            <a:ext cx="5048250" cy="508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762000" y="1466850"/>
            <a:ext cx="530066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What is a Function?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762000" y="1933575"/>
            <a:ext cx="50482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accent3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Think of a function as a </a:t>
            </a:r>
            <a:r>
              <a:rPr lang="en-US" sz="1500" b="1" i="0" u="none" strike="noStrike" cap="none" dirty="0">
                <a:solidFill>
                  <a:schemeClr val="accent3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Kitchen Blender</a:t>
            </a:r>
            <a:r>
              <a:rPr lang="en-US" sz="1500" b="0" i="0" u="none" strike="noStrike" cap="none" dirty="0">
                <a:solidFill>
                  <a:schemeClr val="accent3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. You give it ingredients (Inputs), it performs a specific task (Mixing), and it gives you a smoothie (Output).</a:t>
            </a:r>
            <a:endParaRPr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762000" y="3038475"/>
            <a:ext cx="50482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accent4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Instead of manually chopping fruit every time, you just press the "Blender" button.</a:t>
            </a:r>
            <a:endParaRPr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1223963" y="4419600"/>
            <a:ext cx="46196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Reusable blocks of code</a:t>
            </a:r>
            <a:endParaRPr dirty="0"/>
          </a:p>
        </p:txBody>
      </p:sp>
      <p:sp>
        <p:nvSpPr>
          <p:cNvPr id="106" name="Google Shape;106;p15"/>
          <p:cNvSpPr txBox="1"/>
          <p:nvPr/>
        </p:nvSpPr>
        <p:spPr>
          <a:xfrm>
            <a:off x="1223963" y="4905375"/>
            <a:ext cx="46196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Performs one specific task</a:t>
            </a:r>
            <a:endParaRPr dirty="0"/>
          </a:p>
        </p:txBody>
      </p:sp>
      <p:sp>
        <p:nvSpPr>
          <p:cNvPr id="107" name="Google Shape;107;p15"/>
          <p:cNvSpPr txBox="1"/>
          <p:nvPr/>
        </p:nvSpPr>
        <p:spPr>
          <a:xfrm>
            <a:off x="1223963" y="5391150"/>
            <a:ext cx="46196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Makes code easier to read</a:t>
            </a:r>
            <a:endParaRPr/>
          </a:p>
        </p:txBody>
      </p:sp>
      <p:pic>
        <p:nvPicPr>
          <p:cNvPr id="108" name="Google Shape;10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5338" y="44577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5338" y="49434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5338" y="5429250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952500" y="571500"/>
            <a:ext cx="11001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THE FUNCTION MACHINE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762000" y="571500"/>
            <a:ext cx="57150" cy="5143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4" name="Picture 2" descr="2.4. Function Calls — Foundations of Python Programming">
            <a:extLst>
              <a:ext uri="{FF2B5EF4-FFF2-40B4-BE49-F238E27FC236}">
                <a16:creationId xmlns:a16="http://schemas.microsoft.com/office/drawing/2014/main" id="{7EC4FD8A-9571-403D-A8EE-7A44A168112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8671" y="1564055"/>
            <a:ext cx="5375204" cy="357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/>
          <p:nvPr/>
        </p:nvSpPr>
        <p:spPr>
          <a:xfrm>
            <a:off x="952500" y="571500"/>
            <a:ext cx="11001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STRUCTURE OF A FUNCTION</a:t>
            </a:r>
            <a:endParaRPr dirty="0"/>
          </a:p>
        </p:txBody>
      </p:sp>
      <p:sp>
        <p:nvSpPr>
          <p:cNvPr id="128" name="Google Shape;128;p16"/>
          <p:cNvSpPr/>
          <p:nvPr/>
        </p:nvSpPr>
        <p:spPr>
          <a:xfrm>
            <a:off x="762000" y="571500"/>
            <a:ext cx="57150" cy="5143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A4F65E7-072F-42B3-BCC2-EFCE3C4C66B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72662" y="1462300"/>
            <a:ext cx="6936827" cy="4555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 Unicode MS"/>
              </a:rPr>
              <a:t> def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 keyword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Used to define a function.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Function Name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The name (identifier) used to call the function.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Parameters (Optional)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Variables inside parentheses that receive input values.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Colon (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 Unicode MS"/>
              </a:rPr>
              <a:t>: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)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Indicates the beginning of the function body.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Function Body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An indented block of code that executes when the function is called.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 Unicode MS"/>
              </a:rPr>
              <a:t>return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 Statement (Optional)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Sends a value back to the caller. </a:t>
            </a:r>
          </a:p>
        </p:txBody>
      </p:sp>
      <p:pic>
        <p:nvPicPr>
          <p:cNvPr id="4099" name="Picture 3" descr="Python Functions - GeeksforGeeks">
            <a:extLst>
              <a:ext uri="{FF2B5EF4-FFF2-40B4-BE49-F238E27FC236}">
                <a16:creationId xmlns:a16="http://schemas.microsoft.com/office/drawing/2014/main" id="{5AB89D39-38A7-4B35-9856-00444023DB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025996"/>
            <a:ext cx="5771493" cy="261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910458" y="413844"/>
            <a:ext cx="11001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Example (Like 8.2, 8.3)</a:t>
            </a:r>
            <a:endParaRPr sz="2400" dirty="0"/>
          </a:p>
        </p:txBody>
      </p:sp>
      <p:sp>
        <p:nvSpPr>
          <p:cNvPr id="128" name="Google Shape;128;p16"/>
          <p:cNvSpPr/>
          <p:nvPr/>
        </p:nvSpPr>
        <p:spPr>
          <a:xfrm>
            <a:off x="719958" y="277210"/>
            <a:ext cx="57150" cy="5143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67;p7">
            <a:extLst>
              <a:ext uri="{FF2B5EF4-FFF2-40B4-BE49-F238E27FC236}">
                <a16:creationId xmlns:a16="http://schemas.microsoft.com/office/drawing/2014/main" id="{FD892428-00B3-4B1E-9BB0-903B42D25576}"/>
              </a:ext>
            </a:extLst>
          </p:cNvPr>
          <p:cNvSpPr/>
          <p:nvPr/>
        </p:nvSpPr>
        <p:spPr>
          <a:xfrm>
            <a:off x="323557" y="1128294"/>
            <a:ext cx="7149297" cy="1838783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4" name="Google Shape;168;p7">
            <a:extLst>
              <a:ext uri="{FF2B5EF4-FFF2-40B4-BE49-F238E27FC236}">
                <a16:creationId xmlns:a16="http://schemas.microsoft.com/office/drawing/2014/main" id="{1FC4F8DC-A9A3-4AED-A3B4-05EE2B1671C9}"/>
              </a:ext>
            </a:extLst>
          </p:cNvPr>
          <p:cNvSpPr/>
          <p:nvPr/>
        </p:nvSpPr>
        <p:spPr>
          <a:xfrm>
            <a:off x="469869" y="1225831"/>
            <a:ext cx="122000" cy="122000"/>
          </a:xfrm>
          <a:prstGeom prst="ellipse">
            <a:avLst/>
          </a:prstGeom>
          <a:solidFill>
            <a:srgbClr val="FF5F57"/>
          </a:solidFill>
          <a:ln w="12700" cap="flat" cmpd="sng">
            <a:solidFill>
              <a:srgbClr val="FF5F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5" name="Google Shape;169;p7">
            <a:extLst>
              <a:ext uri="{FF2B5EF4-FFF2-40B4-BE49-F238E27FC236}">
                <a16:creationId xmlns:a16="http://schemas.microsoft.com/office/drawing/2014/main" id="{1D0AD19F-648B-46DB-BED4-2D07B227DD4F}"/>
              </a:ext>
            </a:extLst>
          </p:cNvPr>
          <p:cNvSpPr/>
          <p:nvPr/>
        </p:nvSpPr>
        <p:spPr>
          <a:xfrm>
            <a:off x="652749" y="1225831"/>
            <a:ext cx="122000" cy="122000"/>
          </a:xfrm>
          <a:prstGeom prst="ellipse">
            <a:avLst/>
          </a:prstGeom>
          <a:solidFill>
            <a:srgbClr val="FEBC2E"/>
          </a:solidFill>
          <a:ln w="12700" cap="flat" cmpd="sng">
            <a:solidFill>
              <a:srgbClr val="FEB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6" name="Google Shape;170;p7">
            <a:extLst>
              <a:ext uri="{FF2B5EF4-FFF2-40B4-BE49-F238E27FC236}">
                <a16:creationId xmlns:a16="http://schemas.microsoft.com/office/drawing/2014/main" id="{48752EFE-2FA5-4D9D-A6C0-2DAF62F10E2B}"/>
              </a:ext>
            </a:extLst>
          </p:cNvPr>
          <p:cNvSpPr/>
          <p:nvPr/>
        </p:nvSpPr>
        <p:spPr>
          <a:xfrm>
            <a:off x="835629" y="1225831"/>
            <a:ext cx="122000" cy="122000"/>
          </a:xfrm>
          <a:prstGeom prst="ellipse">
            <a:avLst/>
          </a:prstGeom>
          <a:solidFill>
            <a:srgbClr val="28C840"/>
          </a:solidFill>
          <a:ln w="12700" cap="flat" cmpd="sng">
            <a:solidFill>
              <a:srgbClr val="28C8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7" name="Google Shape;179;p7">
            <a:extLst>
              <a:ext uri="{FF2B5EF4-FFF2-40B4-BE49-F238E27FC236}">
                <a16:creationId xmlns:a16="http://schemas.microsoft.com/office/drawing/2014/main" id="{552FBB6C-DEC4-4A21-A90B-BBF61FC5512C}"/>
              </a:ext>
            </a:extLst>
          </p:cNvPr>
          <p:cNvSpPr/>
          <p:nvPr/>
        </p:nvSpPr>
        <p:spPr>
          <a:xfrm>
            <a:off x="8008882" y="1604203"/>
            <a:ext cx="3958196" cy="1202058"/>
          </a:xfrm>
          <a:prstGeom prst="rect">
            <a:avLst/>
          </a:prstGeom>
          <a:solidFill>
            <a:srgbClr val="1E293B"/>
          </a:solidFill>
          <a:ln w="254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br>
              <a:rPr lang="en-US" sz="1867" dirty="0">
                <a:solidFill>
                  <a:schemeClr val="accent2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</a:br>
            <a:r>
              <a:rPr lang="en-US" sz="1867" dirty="0">
                <a:solidFill>
                  <a:schemeClr val="accent2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Hello! Welcome to the class.</a:t>
            </a:r>
          </a:p>
        </p:txBody>
      </p:sp>
      <p:sp>
        <p:nvSpPr>
          <p:cNvPr id="18" name="Google Shape;181;p7">
            <a:extLst>
              <a:ext uri="{FF2B5EF4-FFF2-40B4-BE49-F238E27FC236}">
                <a16:creationId xmlns:a16="http://schemas.microsoft.com/office/drawing/2014/main" id="{E840ED50-F2C7-40B3-A94D-5E8DFE398744}"/>
              </a:ext>
            </a:extLst>
          </p:cNvPr>
          <p:cNvSpPr/>
          <p:nvPr/>
        </p:nvSpPr>
        <p:spPr>
          <a:xfrm>
            <a:off x="8078652" y="1775788"/>
            <a:ext cx="3705545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A78BFA"/>
              </a:buClr>
              <a:buSzPts val="1200"/>
            </a:pPr>
            <a:r>
              <a:rPr lang="en-US" sz="1600" b="1" dirty="0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7C3040-D31D-40C5-925D-A0730A6EC2B1}"/>
              </a:ext>
            </a:extLst>
          </p:cNvPr>
          <p:cNvSpPr txBox="1"/>
          <p:nvPr/>
        </p:nvSpPr>
        <p:spPr>
          <a:xfrm>
            <a:off x="363505" y="1397417"/>
            <a:ext cx="722496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greet</a:t>
            </a:r>
            <a:r>
              <a:rPr lang="en-US" sz="2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sz="2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"Hello! Welcome to the class."</a:t>
            </a:r>
            <a:r>
              <a:rPr lang="en-US" sz="2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sz="2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greet</a:t>
            </a:r>
            <a:r>
              <a:rPr lang="en-US" sz="2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20" name="Google Shape;127;p16">
            <a:extLst>
              <a:ext uri="{FF2B5EF4-FFF2-40B4-BE49-F238E27FC236}">
                <a16:creationId xmlns:a16="http://schemas.microsoft.com/office/drawing/2014/main" id="{1CDA7B59-0519-45FC-9667-05366A668CAA}"/>
              </a:ext>
            </a:extLst>
          </p:cNvPr>
          <p:cNvSpPr txBox="1"/>
          <p:nvPr/>
        </p:nvSpPr>
        <p:spPr>
          <a:xfrm>
            <a:off x="910458" y="3426496"/>
            <a:ext cx="11001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Function Parameters (Like 8.4)</a:t>
            </a:r>
            <a:endParaRPr sz="2400" dirty="0"/>
          </a:p>
        </p:txBody>
      </p:sp>
      <p:sp>
        <p:nvSpPr>
          <p:cNvPr id="21" name="Google Shape;128;p16">
            <a:extLst>
              <a:ext uri="{FF2B5EF4-FFF2-40B4-BE49-F238E27FC236}">
                <a16:creationId xmlns:a16="http://schemas.microsoft.com/office/drawing/2014/main" id="{F8533B71-EE7F-4A9E-A97D-3CD532A86D52}"/>
              </a:ext>
            </a:extLst>
          </p:cNvPr>
          <p:cNvSpPr/>
          <p:nvPr/>
        </p:nvSpPr>
        <p:spPr>
          <a:xfrm>
            <a:off x="719958" y="3321394"/>
            <a:ext cx="57150" cy="5143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67;p7">
            <a:extLst>
              <a:ext uri="{FF2B5EF4-FFF2-40B4-BE49-F238E27FC236}">
                <a16:creationId xmlns:a16="http://schemas.microsoft.com/office/drawing/2014/main" id="{DA626F0B-1481-4C39-8638-ABAC56A56A13}"/>
              </a:ext>
            </a:extLst>
          </p:cNvPr>
          <p:cNvSpPr/>
          <p:nvPr/>
        </p:nvSpPr>
        <p:spPr>
          <a:xfrm>
            <a:off x="323557" y="3989636"/>
            <a:ext cx="8221353" cy="2375942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23" name="Google Shape;168;p7">
            <a:extLst>
              <a:ext uri="{FF2B5EF4-FFF2-40B4-BE49-F238E27FC236}">
                <a16:creationId xmlns:a16="http://schemas.microsoft.com/office/drawing/2014/main" id="{8988C97E-B8C5-4040-9D94-FD59A807F163}"/>
              </a:ext>
            </a:extLst>
          </p:cNvPr>
          <p:cNvSpPr/>
          <p:nvPr/>
        </p:nvSpPr>
        <p:spPr>
          <a:xfrm>
            <a:off x="469869" y="4087173"/>
            <a:ext cx="122000" cy="122000"/>
          </a:xfrm>
          <a:prstGeom prst="ellipse">
            <a:avLst/>
          </a:prstGeom>
          <a:solidFill>
            <a:srgbClr val="FF5F57"/>
          </a:solidFill>
          <a:ln w="12700" cap="flat" cmpd="sng">
            <a:solidFill>
              <a:srgbClr val="FF5F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24" name="Google Shape;169;p7">
            <a:extLst>
              <a:ext uri="{FF2B5EF4-FFF2-40B4-BE49-F238E27FC236}">
                <a16:creationId xmlns:a16="http://schemas.microsoft.com/office/drawing/2014/main" id="{42A24A9C-6520-4C7C-A7F9-B5ED68E3000F}"/>
              </a:ext>
            </a:extLst>
          </p:cNvPr>
          <p:cNvSpPr/>
          <p:nvPr/>
        </p:nvSpPr>
        <p:spPr>
          <a:xfrm>
            <a:off x="652749" y="4087173"/>
            <a:ext cx="122000" cy="122000"/>
          </a:xfrm>
          <a:prstGeom prst="ellipse">
            <a:avLst/>
          </a:prstGeom>
          <a:solidFill>
            <a:srgbClr val="FEBC2E"/>
          </a:solidFill>
          <a:ln w="12700" cap="flat" cmpd="sng">
            <a:solidFill>
              <a:srgbClr val="FEB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25" name="Google Shape;170;p7">
            <a:extLst>
              <a:ext uri="{FF2B5EF4-FFF2-40B4-BE49-F238E27FC236}">
                <a16:creationId xmlns:a16="http://schemas.microsoft.com/office/drawing/2014/main" id="{18B3BAC2-1CDE-409F-823E-07DC86EE191A}"/>
              </a:ext>
            </a:extLst>
          </p:cNvPr>
          <p:cNvSpPr/>
          <p:nvPr/>
        </p:nvSpPr>
        <p:spPr>
          <a:xfrm>
            <a:off x="835629" y="4087173"/>
            <a:ext cx="122000" cy="122000"/>
          </a:xfrm>
          <a:prstGeom prst="ellipse">
            <a:avLst/>
          </a:prstGeom>
          <a:solidFill>
            <a:srgbClr val="28C840"/>
          </a:solidFill>
          <a:ln w="12700" cap="flat" cmpd="sng">
            <a:solidFill>
              <a:srgbClr val="28C8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26" name="Google Shape;179;p7">
            <a:extLst>
              <a:ext uri="{FF2B5EF4-FFF2-40B4-BE49-F238E27FC236}">
                <a16:creationId xmlns:a16="http://schemas.microsoft.com/office/drawing/2014/main" id="{4EE3DD77-75B6-4352-89BC-811BD5710BFB}"/>
              </a:ext>
            </a:extLst>
          </p:cNvPr>
          <p:cNvSpPr/>
          <p:nvPr/>
        </p:nvSpPr>
        <p:spPr>
          <a:xfrm>
            <a:off x="9143999" y="5649523"/>
            <a:ext cx="2051546" cy="716055"/>
          </a:xfrm>
          <a:prstGeom prst="rect">
            <a:avLst/>
          </a:prstGeom>
          <a:solidFill>
            <a:srgbClr val="1E293B"/>
          </a:solidFill>
          <a:ln w="254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1867" dirty="0">
                <a:solidFill>
                  <a:schemeClr val="accent2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Hello Alice</a:t>
            </a:r>
          </a:p>
        </p:txBody>
      </p:sp>
      <p:sp>
        <p:nvSpPr>
          <p:cNvPr id="27" name="Google Shape;181;p7">
            <a:extLst>
              <a:ext uri="{FF2B5EF4-FFF2-40B4-BE49-F238E27FC236}">
                <a16:creationId xmlns:a16="http://schemas.microsoft.com/office/drawing/2014/main" id="{3D8EBA5A-1AFB-4123-9D1F-34FD655B4EC9}"/>
              </a:ext>
            </a:extLst>
          </p:cNvPr>
          <p:cNvSpPr/>
          <p:nvPr/>
        </p:nvSpPr>
        <p:spPr>
          <a:xfrm>
            <a:off x="9193034" y="5546956"/>
            <a:ext cx="1920596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A78BFA"/>
              </a:buClr>
              <a:buSzPts val="1200"/>
            </a:pPr>
            <a:r>
              <a:rPr lang="en-US" sz="1600" b="1" dirty="0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5B6A7C-91B5-443D-A7D2-EB63F4361B7A}"/>
              </a:ext>
            </a:extLst>
          </p:cNvPr>
          <p:cNvSpPr txBox="1"/>
          <p:nvPr/>
        </p:nvSpPr>
        <p:spPr>
          <a:xfrm>
            <a:off x="363505" y="4258759"/>
            <a:ext cx="818140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Function with a single parameter</a:t>
            </a:r>
            <a:endParaRPr lang="en-US" sz="2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greet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Calling the function and passing “Amit" as the argument</a:t>
            </a:r>
            <a:endParaRPr lang="en-US" sz="2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greet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“Amit"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5122" name="Picture 2" descr="Computational Thinking GIFs - Find &amp; Share on GIPHY">
            <a:extLst>
              <a:ext uri="{FF2B5EF4-FFF2-40B4-BE49-F238E27FC236}">
                <a16:creationId xmlns:a16="http://schemas.microsoft.com/office/drawing/2014/main" id="{BC07C2C5-6A11-4221-A501-5CB05FDBC96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4868" y="3118424"/>
            <a:ext cx="2181497" cy="2181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6787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910458" y="277210"/>
            <a:ext cx="11001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Function  Multiple Parameters (Like 8.4)</a:t>
            </a:r>
            <a:endParaRPr lang="en-US" sz="2400" dirty="0"/>
          </a:p>
        </p:txBody>
      </p:sp>
      <p:sp>
        <p:nvSpPr>
          <p:cNvPr id="128" name="Google Shape;128;p16"/>
          <p:cNvSpPr/>
          <p:nvPr/>
        </p:nvSpPr>
        <p:spPr>
          <a:xfrm>
            <a:off x="719958" y="130068"/>
            <a:ext cx="57150" cy="5143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127;p16">
            <a:extLst>
              <a:ext uri="{FF2B5EF4-FFF2-40B4-BE49-F238E27FC236}">
                <a16:creationId xmlns:a16="http://schemas.microsoft.com/office/drawing/2014/main" id="{952780A5-C863-4AE0-A5EE-DA26031E41FF}"/>
              </a:ext>
            </a:extLst>
          </p:cNvPr>
          <p:cNvSpPr txBox="1"/>
          <p:nvPr/>
        </p:nvSpPr>
        <p:spPr>
          <a:xfrm>
            <a:off x="978307" y="3234846"/>
            <a:ext cx="1100137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/>
          </a:p>
        </p:txBody>
      </p:sp>
      <p:sp>
        <p:nvSpPr>
          <p:cNvPr id="42" name="Google Shape;179;p7">
            <a:extLst>
              <a:ext uri="{FF2B5EF4-FFF2-40B4-BE49-F238E27FC236}">
                <a16:creationId xmlns:a16="http://schemas.microsoft.com/office/drawing/2014/main" id="{C09DA6C0-FB13-40DD-BAFF-56CB0EF93376}"/>
              </a:ext>
            </a:extLst>
          </p:cNvPr>
          <p:cNvSpPr/>
          <p:nvPr/>
        </p:nvSpPr>
        <p:spPr>
          <a:xfrm>
            <a:off x="9211847" y="5562975"/>
            <a:ext cx="2608387" cy="1100584"/>
          </a:xfrm>
          <a:prstGeom prst="rect">
            <a:avLst/>
          </a:prstGeom>
          <a:solidFill>
            <a:srgbClr val="1E293B"/>
          </a:solidFill>
          <a:ln w="254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1867" dirty="0">
                <a:solidFill>
                  <a:schemeClr val="accent2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Welcome, Guest</a:t>
            </a:r>
          </a:p>
          <a:p>
            <a:r>
              <a:rPr lang="en-US" sz="1867" dirty="0">
                <a:solidFill>
                  <a:schemeClr val="accent2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Welcome, Amit</a:t>
            </a:r>
          </a:p>
        </p:txBody>
      </p:sp>
      <p:sp>
        <p:nvSpPr>
          <p:cNvPr id="43" name="Google Shape;181;p7">
            <a:extLst>
              <a:ext uri="{FF2B5EF4-FFF2-40B4-BE49-F238E27FC236}">
                <a16:creationId xmlns:a16="http://schemas.microsoft.com/office/drawing/2014/main" id="{7D4AA0E5-34A9-4172-94A0-63324AB9124D}"/>
              </a:ext>
            </a:extLst>
          </p:cNvPr>
          <p:cNvSpPr/>
          <p:nvPr/>
        </p:nvSpPr>
        <p:spPr>
          <a:xfrm>
            <a:off x="9260883" y="5460408"/>
            <a:ext cx="1920596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A78BFA"/>
              </a:buClr>
              <a:buSzPts val="1200"/>
            </a:pPr>
            <a:r>
              <a:rPr lang="en-US" sz="1600" b="1" dirty="0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" name="Picture 2" descr="Online Coding Classes for Kids &amp; Teenagers | Whizen">
            <a:extLst>
              <a:ext uri="{FF2B5EF4-FFF2-40B4-BE49-F238E27FC236}">
                <a16:creationId xmlns:a16="http://schemas.microsoft.com/office/drawing/2014/main" id="{EC32E890-44C4-49C0-80F7-34FB58E6A2C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6684" y="2543784"/>
            <a:ext cx="2705812" cy="2705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Google Shape;167;p7">
            <a:extLst>
              <a:ext uri="{FF2B5EF4-FFF2-40B4-BE49-F238E27FC236}">
                <a16:creationId xmlns:a16="http://schemas.microsoft.com/office/drawing/2014/main" id="{73C8EC2B-71A2-412A-908B-CA3B8ED55A96}"/>
              </a:ext>
            </a:extLst>
          </p:cNvPr>
          <p:cNvSpPr/>
          <p:nvPr/>
        </p:nvSpPr>
        <p:spPr>
          <a:xfrm>
            <a:off x="399543" y="3669661"/>
            <a:ext cx="8698579" cy="3116056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6" name="Google Shape;168;p7">
            <a:extLst>
              <a:ext uri="{FF2B5EF4-FFF2-40B4-BE49-F238E27FC236}">
                <a16:creationId xmlns:a16="http://schemas.microsoft.com/office/drawing/2014/main" id="{0AF862CB-88E0-4040-BEA9-B77A3E233120}"/>
              </a:ext>
            </a:extLst>
          </p:cNvPr>
          <p:cNvSpPr/>
          <p:nvPr/>
        </p:nvSpPr>
        <p:spPr>
          <a:xfrm>
            <a:off x="545855" y="3767198"/>
            <a:ext cx="122000" cy="122000"/>
          </a:xfrm>
          <a:prstGeom prst="ellipse">
            <a:avLst/>
          </a:prstGeom>
          <a:solidFill>
            <a:srgbClr val="FF5F57"/>
          </a:solidFill>
          <a:ln w="12700" cap="flat" cmpd="sng">
            <a:solidFill>
              <a:srgbClr val="FF5F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7" name="Google Shape;169;p7">
            <a:extLst>
              <a:ext uri="{FF2B5EF4-FFF2-40B4-BE49-F238E27FC236}">
                <a16:creationId xmlns:a16="http://schemas.microsoft.com/office/drawing/2014/main" id="{E440DD03-C4DE-4FDF-B98E-DB541D557A99}"/>
              </a:ext>
            </a:extLst>
          </p:cNvPr>
          <p:cNvSpPr/>
          <p:nvPr/>
        </p:nvSpPr>
        <p:spPr>
          <a:xfrm>
            <a:off x="728735" y="3767198"/>
            <a:ext cx="122000" cy="122000"/>
          </a:xfrm>
          <a:prstGeom prst="ellipse">
            <a:avLst/>
          </a:prstGeom>
          <a:solidFill>
            <a:srgbClr val="FEBC2E"/>
          </a:solidFill>
          <a:ln w="12700" cap="flat" cmpd="sng">
            <a:solidFill>
              <a:srgbClr val="FEB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8" name="Google Shape;170;p7">
            <a:extLst>
              <a:ext uri="{FF2B5EF4-FFF2-40B4-BE49-F238E27FC236}">
                <a16:creationId xmlns:a16="http://schemas.microsoft.com/office/drawing/2014/main" id="{20BFEACA-2097-43E2-BC1C-9D33BA6005E4}"/>
              </a:ext>
            </a:extLst>
          </p:cNvPr>
          <p:cNvSpPr/>
          <p:nvPr/>
        </p:nvSpPr>
        <p:spPr>
          <a:xfrm>
            <a:off x="911615" y="3767198"/>
            <a:ext cx="122000" cy="122000"/>
          </a:xfrm>
          <a:prstGeom prst="ellipse">
            <a:avLst/>
          </a:prstGeom>
          <a:solidFill>
            <a:srgbClr val="28C840"/>
          </a:solidFill>
          <a:ln w="12700" cap="flat" cmpd="sng">
            <a:solidFill>
              <a:srgbClr val="28C8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5A884E-D17C-4BA9-B675-E5CCF6C2F900}"/>
              </a:ext>
            </a:extLst>
          </p:cNvPr>
          <p:cNvSpPr txBox="1"/>
          <p:nvPr/>
        </p:nvSpPr>
        <p:spPr>
          <a:xfrm>
            <a:off x="439490" y="3938784"/>
            <a:ext cx="8698579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Setting "Guest" as the default value for the 'name' parameter</a:t>
            </a:r>
            <a:endParaRPr lang="en-US" sz="19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greet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"Guest"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"Welcome,"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Python uses the default "Guest")</a:t>
            </a:r>
            <a:endParaRPr lang="en-US" sz="2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greet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Calling with an argument (Overrides the default value)</a:t>
            </a:r>
            <a:endParaRPr lang="en-US" sz="2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greet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"Amit"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0" name="Google Shape;167;p7">
            <a:extLst>
              <a:ext uri="{FF2B5EF4-FFF2-40B4-BE49-F238E27FC236}">
                <a16:creationId xmlns:a16="http://schemas.microsoft.com/office/drawing/2014/main" id="{B3A69187-4173-46C8-8EFE-E5146B7EBCDA}"/>
              </a:ext>
            </a:extLst>
          </p:cNvPr>
          <p:cNvSpPr/>
          <p:nvPr/>
        </p:nvSpPr>
        <p:spPr>
          <a:xfrm>
            <a:off x="399543" y="747471"/>
            <a:ext cx="7149297" cy="2276563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51" name="Google Shape;168;p7">
            <a:extLst>
              <a:ext uri="{FF2B5EF4-FFF2-40B4-BE49-F238E27FC236}">
                <a16:creationId xmlns:a16="http://schemas.microsoft.com/office/drawing/2014/main" id="{6D26AE94-32C7-4483-B6A7-E4A2BC5EC287}"/>
              </a:ext>
            </a:extLst>
          </p:cNvPr>
          <p:cNvSpPr/>
          <p:nvPr/>
        </p:nvSpPr>
        <p:spPr>
          <a:xfrm>
            <a:off x="545855" y="845008"/>
            <a:ext cx="122000" cy="122000"/>
          </a:xfrm>
          <a:prstGeom prst="ellipse">
            <a:avLst/>
          </a:prstGeom>
          <a:solidFill>
            <a:srgbClr val="FF5F57"/>
          </a:solidFill>
          <a:ln w="12700" cap="flat" cmpd="sng">
            <a:solidFill>
              <a:srgbClr val="FF5F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52" name="Google Shape;169;p7">
            <a:extLst>
              <a:ext uri="{FF2B5EF4-FFF2-40B4-BE49-F238E27FC236}">
                <a16:creationId xmlns:a16="http://schemas.microsoft.com/office/drawing/2014/main" id="{C10A5F3D-D652-4F36-BDE3-A023A3481E68}"/>
              </a:ext>
            </a:extLst>
          </p:cNvPr>
          <p:cNvSpPr/>
          <p:nvPr/>
        </p:nvSpPr>
        <p:spPr>
          <a:xfrm>
            <a:off x="728735" y="845008"/>
            <a:ext cx="122000" cy="122000"/>
          </a:xfrm>
          <a:prstGeom prst="ellipse">
            <a:avLst/>
          </a:prstGeom>
          <a:solidFill>
            <a:srgbClr val="FEBC2E"/>
          </a:solidFill>
          <a:ln w="12700" cap="flat" cmpd="sng">
            <a:solidFill>
              <a:srgbClr val="FEB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53" name="Google Shape;170;p7">
            <a:extLst>
              <a:ext uri="{FF2B5EF4-FFF2-40B4-BE49-F238E27FC236}">
                <a16:creationId xmlns:a16="http://schemas.microsoft.com/office/drawing/2014/main" id="{8A7089FE-508C-40BE-9CB7-17CE6351E52E}"/>
              </a:ext>
            </a:extLst>
          </p:cNvPr>
          <p:cNvSpPr/>
          <p:nvPr/>
        </p:nvSpPr>
        <p:spPr>
          <a:xfrm>
            <a:off x="911615" y="845008"/>
            <a:ext cx="122000" cy="122000"/>
          </a:xfrm>
          <a:prstGeom prst="ellipse">
            <a:avLst/>
          </a:prstGeom>
          <a:solidFill>
            <a:srgbClr val="28C840"/>
          </a:solidFill>
          <a:ln w="12700" cap="flat" cmpd="sng">
            <a:solidFill>
              <a:srgbClr val="28C8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54" name="Google Shape;179;p7">
            <a:extLst>
              <a:ext uri="{FF2B5EF4-FFF2-40B4-BE49-F238E27FC236}">
                <a16:creationId xmlns:a16="http://schemas.microsoft.com/office/drawing/2014/main" id="{81FAD884-FBBD-4EF5-844A-80B5180C9BC7}"/>
              </a:ext>
            </a:extLst>
          </p:cNvPr>
          <p:cNvSpPr/>
          <p:nvPr/>
        </p:nvSpPr>
        <p:spPr>
          <a:xfrm>
            <a:off x="8084868" y="1223380"/>
            <a:ext cx="3958196" cy="1001136"/>
          </a:xfrm>
          <a:prstGeom prst="rect">
            <a:avLst/>
          </a:prstGeom>
          <a:solidFill>
            <a:srgbClr val="1E293B"/>
          </a:solidFill>
          <a:ln w="254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br>
              <a:rPr lang="en-US" sz="1867" dirty="0">
                <a:solidFill>
                  <a:schemeClr val="accent2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</a:br>
            <a:r>
              <a:rPr lang="en-US" sz="1867" dirty="0">
                <a:solidFill>
                  <a:schemeClr val="accent2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The sum is: 15</a:t>
            </a:r>
          </a:p>
        </p:txBody>
      </p:sp>
      <p:sp>
        <p:nvSpPr>
          <p:cNvPr id="55" name="Google Shape;181;p7">
            <a:extLst>
              <a:ext uri="{FF2B5EF4-FFF2-40B4-BE49-F238E27FC236}">
                <a16:creationId xmlns:a16="http://schemas.microsoft.com/office/drawing/2014/main" id="{B479265B-4C9B-4E0C-B208-A9741BB8E287}"/>
              </a:ext>
            </a:extLst>
          </p:cNvPr>
          <p:cNvSpPr/>
          <p:nvPr/>
        </p:nvSpPr>
        <p:spPr>
          <a:xfrm>
            <a:off x="8154638" y="1394965"/>
            <a:ext cx="3705545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A78BFA"/>
              </a:buClr>
              <a:buSzPts val="1200"/>
            </a:pPr>
            <a:r>
              <a:rPr lang="en-US" sz="1600" b="1" dirty="0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33C1CD5-3CC9-4F9F-B3CD-A6E54DB186B4}"/>
              </a:ext>
            </a:extLst>
          </p:cNvPr>
          <p:cNvSpPr txBox="1"/>
          <p:nvPr/>
        </p:nvSpPr>
        <p:spPr>
          <a:xfrm>
            <a:off x="439491" y="1016594"/>
            <a:ext cx="722496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Function with multiple parameters</a:t>
            </a:r>
            <a:endParaRPr lang="en-US" sz="2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add_numbers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"The sum is:"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Passing two numbers to the function</a:t>
            </a:r>
            <a:endParaRPr lang="en-US" sz="2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add_numbers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7" name="Google Shape;127;p16">
            <a:extLst>
              <a:ext uri="{FF2B5EF4-FFF2-40B4-BE49-F238E27FC236}">
                <a16:creationId xmlns:a16="http://schemas.microsoft.com/office/drawing/2014/main" id="{C7DE740C-7FF3-4E08-BC89-11572877AC99}"/>
              </a:ext>
            </a:extLst>
          </p:cNvPr>
          <p:cNvSpPr txBox="1"/>
          <p:nvPr/>
        </p:nvSpPr>
        <p:spPr>
          <a:xfrm>
            <a:off x="910457" y="3256073"/>
            <a:ext cx="11001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Default Parameter (Like 8.6)</a:t>
            </a:r>
            <a:endParaRPr lang="en-US" sz="2400" dirty="0"/>
          </a:p>
        </p:txBody>
      </p:sp>
      <p:sp>
        <p:nvSpPr>
          <p:cNvPr id="58" name="Google Shape;128;p16">
            <a:extLst>
              <a:ext uri="{FF2B5EF4-FFF2-40B4-BE49-F238E27FC236}">
                <a16:creationId xmlns:a16="http://schemas.microsoft.com/office/drawing/2014/main" id="{0A23BD98-D886-4866-AA95-886E744B5C39}"/>
              </a:ext>
            </a:extLst>
          </p:cNvPr>
          <p:cNvSpPr/>
          <p:nvPr/>
        </p:nvSpPr>
        <p:spPr>
          <a:xfrm>
            <a:off x="759068" y="3106543"/>
            <a:ext cx="57150" cy="5143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85494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504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910458" y="277210"/>
            <a:ext cx="11001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Return Statement (Like 8.5)</a:t>
            </a:r>
            <a:endParaRPr lang="en-US" sz="2400" dirty="0"/>
          </a:p>
        </p:txBody>
      </p:sp>
      <p:sp>
        <p:nvSpPr>
          <p:cNvPr id="128" name="Google Shape;128;p16"/>
          <p:cNvSpPr/>
          <p:nvPr/>
        </p:nvSpPr>
        <p:spPr>
          <a:xfrm>
            <a:off x="719958" y="130068"/>
            <a:ext cx="57150" cy="5143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127;p16">
            <a:extLst>
              <a:ext uri="{FF2B5EF4-FFF2-40B4-BE49-F238E27FC236}">
                <a16:creationId xmlns:a16="http://schemas.microsoft.com/office/drawing/2014/main" id="{952780A5-C863-4AE0-A5EE-DA26031E41FF}"/>
              </a:ext>
            </a:extLst>
          </p:cNvPr>
          <p:cNvSpPr txBox="1"/>
          <p:nvPr/>
        </p:nvSpPr>
        <p:spPr>
          <a:xfrm>
            <a:off x="978307" y="3234846"/>
            <a:ext cx="1100137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/>
          </a:p>
        </p:txBody>
      </p:sp>
      <p:sp>
        <p:nvSpPr>
          <p:cNvPr id="42" name="Google Shape;179;p7">
            <a:extLst>
              <a:ext uri="{FF2B5EF4-FFF2-40B4-BE49-F238E27FC236}">
                <a16:creationId xmlns:a16="http://schemas.microsoft.com/office/drawing/2014/main" id="{C09DA6C0-FB13-40DD-BAFF-56CB0EF93376}"/>
              </a:ext>
            </a:extLst>
          </p:cNvPr>
          <p:cNvSpPr/>
          <p:nvPr/>
        </p:nvSpPr>
        <p:spPr>
          <a:xfrm>
            <a:off x="4370701" y="4149012"/>
            <a:ext cx="1572894" cy="1474022"/>
          </a:xfrm>
          <a:prstGeom prst="rect">
            <a:avLst/>
          </a:prstGeom>
          <a:solidFill>
            <a:srgbClr val="1E293B"/>
          </a:solidFill>
          <a:ln w="254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1867" dirty="0">
                <a:solidFill>
                  <a:schemeClr val="accent2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(10, 20)</a:t>
            </a:r>
          </a:p>
          <a:p>
            <a:r>
              <a:rPr lang="en-US" sz="1867" dirty="0">
                <a:solidFill>
                  <a:schemeClr val="accent2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r>
              <a:rPr lang="en-US" sz="1867" dirty="0">
                <a:solidFill>
                  <a:schemeClr val="accent2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20</a:t>
            </a:r>
          </a:p>
        </p:txBody>
      </p:sp>
      <p:sp>
        <p:nvSpPr>
          <p:cNvPr id="43" name="Google Shape;181;p7">
            <a:extLst>
              <a:ext uri="{FF2B5EF4-FFF2-40B4-BE49-F238E27FC236}">
                <a16:creationId xmlns:a16="http://schemas.microsoft.com/office/drawing/2014/main" id="{7D4AA0E5-34A9-4172-94A0-63324AB9124D}"/>
              </a:ext>
            </a:extLst>
          </p:cNvPr>
          <p:cNvSpPr/>
          <p:nvPr/>
        </p:nvSpPr>
        <p:spPr>
          <a:xfrm>
            <a:off x="4419736" y="4046445"/>
            <a:ext cx="1920596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A78BFA"/>
              </a:buClr>
              <a:buSzPts val="1200"/>
            </a:pPr>
            <a:r>
              <a:rPr lang="en-US" sz="1600" b="1" dirty="0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167;p7">
            <a:extLst>
              <a:ext uri="{FF2B5EF4-FFF2-40B4-BE49-F238E27FC236}">
                <a16:creationId xmlns:a16="http://schemas.microsoft.com/office/drawing/2014/main" id="{73C8EC2B-71A2-412A-908B-CA3B8ED55A96}"/>
              </a:ext>
            </a:extLst>
          </p:cNvPr>
          <p:cNvSpPr/>
          <p:nvPr/>
        </p:nvSpPr>
        <p:spPr>
          <a:xfrm>
            <a:off x="399543" y="3376183"/>
            <a:ext cx="3696207" cy="3116056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6" name="Google Shape;168;p7">
            <a:extLst>
              <a:ext uri="{FF2B5EF4-FFF2-40B4-BE49-F238E27FC236}">
                <a16:creationId xmlns:a16="http://schemas.microsoft.com/office/drawing/2014/main" id="{0AF862CB-88E0-4040-BEA9-B77A3E233120}"/>
              </a:ext>
            </a:extLst>
          </p:cNvPr>
          <p:cNvSpPr/>
          <p:nvPr/>
        </p:nvSpPr>
        <p:spPr>
          <a:xfrm>
            <a:off x="545855" y="3473720"/>
            <a:ext cx="122000" cy="122000"/>
          </a:xfrm>
          <a:prstGeom prst="ellipse">
            <a:avLst/>
          </a:prstGeom>
          <a:solidFill>
            <a:srgbClr val="FF5F57"/>
          </a:solidFill>
          <a:ln w="12700" cap="flat" cmpd="sng">
            <a:solidFill>
              <a:srgbClr val="FF5F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7" name="Google Shape;169;p7">
            <a:extLst>
              <a:ext uri="{FF2B5EF4-FFF2-40B4-BE49-F238E27FC236}">
                <a16:creationId xmlns:a16="http://schemas.microsoft.com/office/drawing/2014/main" id="{E440DD03-C4DE-4FDF-B98E-DB541D557A99}"/>
              </a:ext>
            </a:extLst>
          </p:cNvPr>
          <p:cNvSpPr/>
          <p:nvPr/>
        </p:nvSpPr>
        <p:spPr>
          <a:xfrm>
            <a:off x="728735" y="3473720"/>
            <a:ext cx="122000" cy="122000"/>
          </a:xfrm>
          <a:prstGeom prst="ellipse">
            <a:avLst/>
          </a:prstGeom>
          <a:solidFill>
            <a:srgbClr val="FEBC2E"/>
          </a:solidFill>
          <a:ln w="12700" cap="flat" cmpd="sng">
            <a:solidFill>
              <a:srgbClr val="FEB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8" name="Google Shape;170;p7">
            <a:extLst>
              <a:ext uri="{FF2B5EF4-FFF2-40B4-BE49-F238E27FC236}">
                <a16:creationId xmlns:a16="http://schemas.microsoft.com/office/drawing/2014/main" id="{20BFEACA-2097-43E2-BC1C-9D33BA6005E4}"/>
              </a:ext>
            </a:extLst>
          </p:cNvPr>
          <p:cNvSpPr/>
          <p:nvPr/>
        </p:nvSpPr>
        <p:spPr>
          <a:xfrm>
            <a:off x="911615" y="3473720"/>
            <a:ext cx="122000" cy="122000"/>
          </a:xfrm>
          <a:prstGeom prst="ellipse">
            <a:avLst/>
          </a:prstGeom>
          <a:solidFill>
            <a:srgbClr val="28C840"/>
          </a:solidFill>
          <a:ln w="12700" cap="flat" cmpd="sng">
            <a:solidFill>
              <a:srgbClr val="28C8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5A884E-D17C-4BA9-B675-E5CCF6C2F900}"/>
              </a:ext>
            </a:extLst>
          </p:cNvPr>
          <p:cNvSpPr txBox="1"/>
          <p:nvPr/>
        </p:nvSpPr>
        <p:spPr>
          <a:xfrm>
            <a:off x="439491" y="3645306"/>
            <a:ext cx="41220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get_marks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endParaRPr lang="en-US" sz="2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endParaRPr lang="en-US" sz="2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y</a:t>
            </a:r>
            <a:endParaRPr lang="en-US" sz="2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get_marks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0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US" sz="20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b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sz="2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0" name="Google Shape;167;p7">
            <a:extLst>
              <a:ext uri="{FF2B5EF4-FFF2-40B4-BE49-F238E27FC236}">
                <a16:creationId xmlns:a16="http://schemas.microsoft.com/office/drawing/2014/main" id="{B3A69187-4173-46C8-8EFE-E5146B7EBCDA}"/>
              </a:ext>
            </a:extLst>
          </p:cNvPr>
          <p:cNvSpPr/>
          <p:nvPr/>
        </p:nvSpPr>
        <p:spPr>
          <a:xfrm>
            <a:off x="399543" y="747472"/>
            <a:ext cx="7149297" cy="1974708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51" name="Google Shape;168;p7">
            <a:extLst>
              <a:ext uri="{FF2B5EF4-FFF2-40B4-BE49-F238E27FC236}">
                <a16:creationId xmlns:a16="http://schemas.microsoft.com/office/drawing/2014/main" id="{6D26AE94-32C7-4483-B6A7-E4A2BC5EC287}"/>
              </a:ext>
            </a:extLst>
          </p:cNvPr>
          <p:cNvSpPr/>
          <p:nvPr/>
        </p:nvSpPr>
        <p:spPr>
          <a:xfrm>
            <a:off x="545855" y="845008"/>
            <a:ext cx="122000" cy="122000"/>
          </a:xfrm>
          <a:prstGeom prst="ellipse">
            <a:avLst/>
          </a:prstGeom>
          <a:solidFill>
            <a:srgbClr val="FF5F57"/>
          </a:solidFill>
          <a:ln w="12700" cap="flat" cmpd="sng">
            <a:solidFill>
              <a:srgbClr val="FF5F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52" name="Google Shape;169;p7">
            <a:extLst>
              <a:ext uri="{FF2B5EF4-FFF2-40B4-BE49-F238E27FC236}">
                <a16:creationId xmlns:a16="http://schemas.microsoft.com/office/drawing/2014/main" id="{C10A5F3D-D652-4F36-BDE3-A023A3481E68}"/>
              </a:ext>
            </a:extLst>
          </p:cNvPr>
          <p:cNvSpPr/>
          <p:nvPr/>
        </p:nvSpPr>
        <p:spPr>
          <a:xfrm>
            <a:off x="728735" y="845008"/>
            <a:ext cx="122000" cy="122000"/>
          </a:xfrm>
          <a:prstGeom prst="ellipse">
            <a:avLst/>
          </a:prstGeom>
          <a:solidFill>
            <a:srgbClr val="FEBC2E"/>
          </a:solidFill>
          <a:ln w="12700" cap="flat" cmpd="sng">
            <a:solidFill>
              <a:srgbClr val="FEB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53" name="Google Shape;170;p7">
            <a:extLst>
              <a:ext uri="{FF2B5EF4-FFF2-40B4-BE49-F238E27FC236}">
                <a16:creationId xmlns:a16="http://schemas.microsoft.com/office/drawing/2014/main" id="{8A7089FE-508C-40BE-9CB7-17CE6351E52E}"/>
              </a:ext>
            </a:extLst>
          </p:cNvPr>
          <p:cNvSpPr/>
          <p:nvPr/>
        </p:nvSpPr>
        <p:spPr>
          <a:xfrm>
            <a:off x="911615" y="845008"/>
            <a:ext cx="122000" cy="122000"/>
          </a:xfrm>
          <a:prstGeom prst="ellipse">
            <a:avLst/>
          </a:prstGeom>
          <a:solidFill>
            <a:srgbClr val="28C840"/>
          </a:solidFill>
          <a:ln w="12700" cap="flat" cmpd="sng">
            <a:solidFill>
              <a:srgbClr val="28C8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54" name="Google Shape;179;p7">
            <a:extLst>
              <a:ext uri="{FF2B5EF4-FFF2-40B4-BE49-F238E27FC236}">
                <a16:creationId xmlns:a16="http://schemas.microsoft.com/office/drawing/2014/main" id="{81FAD884-FBBD-4EF5-844A-80B5180C9BC7}"/>
              </a:ext>
            </a:extLst>
          </p:cNvPr>
          <p:cNvSpPr/>
          <p:nvPr/>
        </p:nvSpPr>
        <p:spPr>
          <a:xfrm>
            <a:off x="8084868" y="1223380"/>
            <a:ext cx="3958196" cy="1001136"/>
          </a:xfrm>
          <a:prstGeom prst="rect">
            <a:avLst/>
          </a:prstGeom>
          <a:solidFill>
            <a:srgbClr val="1E293B"/>
          </a:solidFill>
          <a:ln w="254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br>
              <a:rPr lang="en-US" sz="1867" dirty="0">
                <a:solidFill>
                  <a:schemeClr val="accent2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</a:br>
            <a:r>
              <a:rPr lang="en-US" sz="1867" dirty="0">
                <a:solidFill>
                  <a:schemeClr val="accent2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The square of 5 is: 25</a:t>
            </a:r>
          </a:p>
        </p:txBody>
      </p:sp>
      <p:sp>
        <p:nvSpPr>
          <p:cNvPr id="55" name="Google Shape;181;p7">
            <a:extLst>
              <a:ext uri="{FF2B5EF4-FFF2-40B4-BE49-F238E27FC236}">
                <a16:creationId xmlns:a16="http://schemas.microsoft.com/office/drawing/2014/main" id="{B479265B-4C9B-4E0C-B208-A9741BB8E287}"/>
              </a:ext>
            </a:extLst>
          </p:cNvPr>
          <p:cNvSpPr/>
          <p:nvPr/>
        </p:nvSpPr>
        <p:spPr>
          <a:xfrm>
            <a:off x="8154638" y="1394965"/>
            <a:ext cx="3705545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A78BFA"/>
              </a:buClr>
              <a:buSzPts val="1200"/>
            </a:pPr>
            <a:r>
              <a:rPr lang="en-US" sz="1600" b="1" dirty="0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33C1CD5-3CC9-4F9F-B3CD-A6E54DB186B4}"/>
              </a:ext>
            </a:extLst>
          </p:cNvPr>
          <p:cNvSpPr txBox="1"/>
          <p:nvPr/>
        </p:nvSpPr>
        <p:spPr>
          <a:xfrm>
            <a:off x="439491" y="1016594"/>
            <a:ext cx="722496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scquare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r>
              <a:rPr lang="en-US" sz="2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scquare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"The square of 5 is:"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7" name="Google Shape;127;p16">
            <a:extLst>
              <a:ext uri="{FF2B5EF4-FFF2-40B4-BE49-F238E27FC236}">
                <a16:creationId xmlns:a16="http://schemas.microsoft.com/office/drawing/2014/main" id="{C7DE740C-7FF3-4E08-BC89-11572877AC99}"/>
              </a:ext>
            </a:extLst>
          </p:cNvPr>
          <p:cNvSpPr txBox="1"/>
          <p:nvPr/>
        </p:nvSpPr>
        <p:spPr>
          <a:xfrm>
            <a:off x="858808" y="2885743"/>
            <a:ext cx="11001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Returning Multiple Values</a:t>
            </a:r>
            <a:endParaRPr lang="en-US" sz="2400" dirty="0"/>
          </a:p>
        </p:txBody>
      </p:sp>
      <p:sp>
        <p:nvSpPr>
          <p:cNvPr id="58" name="Google Shape;128;p16">
            <a:extLst>
              <a:ext uri="{FF2B5EF4-FFF2-40B4-BE49-F238E27FC236}">
                <a16:creationId xmlns:a16="http://schemas.microsoft.com/office/drawing/2014/main" id="{0A23BD98-D886-4866-AA95-886E744B5C39}"/>
              </a:ext>
            </a:extLst>
          </p:cNvPr>
          <p:cNvSpPr/>
          <p:nvPr/>
        </p:nvSpPr>
        <p:spPr>
          <a:xfrm>
            <a:off x="759068" y="2813065"/>
            <a:ext cx="57150" cy="5143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18" name="Picture 2" descr="Atandwa Kani T Chaka GIF - Atandwa Kani T Chaka Spy - Discover &amp; Share GIFs">
            <a:extLst>
              <a:ext uri="{FF2B5EF4-FFF2-40B4-BE49-F238E27FC236}">
                <a16:creationId xmlns:a16="http://schemas.microsoft.com/office/drawing/2014/main" id="{34556C9B-330F-4FEE-857C-5FC3A610071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4641" y="3255075"/>
            <a:ext cx="3531097" cy="2760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5911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4" name="Picture 2" descr="Mr Bean Bangla Gifgari GIF - Mr Bean Bangla Gifgari Kichu Na - Discover &amp;  Share GIFs">
            <a:extLst>
              <a:ext uri="{FF2B5EF4-FFF2-40B4-BE49-F238E27FC236}">
                <a16:creationId xmlns:a16="http://schemas.microsoft.com/office/drawing/2014/main" id="{09A0994F-3313-41AB-BE2B-A204A9F7DFC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2608" y="686456"/>
            <a:ext cx="5146784" cy="4023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8904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399543" y="252247"/>
            <a:ext cx="50763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Returning Values as a Dictionary</a:t>
            </a:r>
            <a:endParaRPr lang="en-US" sz="2400" dirty="0"/>
          </a:p>
        </p:txBody>
      </p:sp>
      <p:sp>
        <p:nvSpPr>
          <p:cNvPr id="41" name="Google Shape;127;p16">
            <a:extLst>
              <a:ext uri="{FF2B5EF4-FFF2-40B4-BE49-F238E27FC236}">
                <a16:creationId xmlns:a16="http://schemas.microsoft.com/office/drawing/2014/main" id="{952780A5-C863-4AE0-A5EE-DA26031E41FF}"/>
              </a:ext>
            </a:extLst>
          </p:cNvPr>
          <p:cNvSpPr txBox="1"/>
          <p:nvPr/>
        </p:nvSpPr>
        <p:spPr>
          <a:xfrm>
            <a:off x="978307" y="3234846"/>
            <a:ext cx="1100137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/>
          </a:p>
        </p:txBody>
      </p:sp>
      <p:sp>
        <p:nvSpPr>
          <p:cNvPr id="50" name="Google Shape;167;p7">
            <a:extLst>
              <a:ext uri="{FF2B5EF4-FFF2-40B4-BE49-F238E27FC236}">
                <a16:creationId xmlns:a16="http://schemas.microsoft.com/office/drawing/2014/main" id="{B3A69187-4173-46C8-8EFE-E5146B7EBCDA}"/>
              </a:ext>
            </a:extLst>
          </p:cNvPr>
          <p:cNvSpPr/>
          <p:nvPr/>
        </p:nvSpPr>
        <p:spPr>
          <a:xfrm>
            <a:off x="439492" y="731807"/>
            <a:ext cx="4330112" cy="4244943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51" name="Google Shape;168;p7">
            <a:extLst>
              <a:ext uri="{FF2B5EF4-FFF2-40B4-BE49-F238E27FC236}">
                <a16:creationId xmlns:a16="http://schemas.microsoft.com/office/drawing/2014/main" id="{6D26AE94-32C7-4483-B6A7-E4A2BC5EC287}"/>
              </a:ext>
            </a:extLst>
          </p:cNvPr>
          <p:cNvSpPr/>
          <p:nvPr/>
        </p:nvSpPr>
        <p:spPr>
          <a:xfrm>
            <a:off x="585803" y="829344"/>
            <a:ext cx="122000" cy="122000"/>
          </a:xfrm>
          <a:prstGeom prst="ellipse">
            <a:avLst/>
          </a:prstGeom>
          <a:solidFill>
            <a:srgbClr val="FF5F57"/>
          </a:solidFill>
          <a:ln w="12700" cap="flat" cmpd="sng">
            <a:solidFill>
              <a:srgbClr val="FF5F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52" name="Google Shape;169;p7">
            <a:extLst>
              <a:ext uri="{FF2B5EF4-FFF2-40B4-BE49-F238E27FC236}">
                <a16:creationId xmlns:a16="http://schemas.microsoft.com/office/drawing/2014/main" id="{C10A5F3D-D652-4F36-BDE3-A023A3481E68}"/>
              </a:ext>
            </a:extLst>
          </p:cNvPr>
          <p:cNvSpPr/>
          <p:nvPr/>
        </p:nvSpPr>
        <p:spPr>
          <a:xfrm>
            <a:off x="768683" y="829344"/>
            <a:ext cx="122000" cy="122000"/>
          </a:xfrm>
          <a:prstGeom prst="ellipse">
            <a:avLst/>
          </a:prstGeom>
          <a:solidFill>
            <a:srgbClr val="FEBC2E"/>
          </a:solidFill>
          <a:ln w="12700" cap="flat" cmpd="sng">
            <a:solidFill>
              <a:srgbClr val="FEB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53" name="Google Shape;170;p7">
            <a:extLst>
              <a:ext uri="{FF2B5EF4-FFF2-40B4-BE49-F238E27FC236}">
                <a16:creationId xmlns:a16="http://schemas.microsoft.com/office/drawing/2014/main" id="{8A7089FE-508C-40BE-9CB7-17CE6351E52E}"/>
              </a:ext>
            </a:extLst>
          </p:cNvPr>
          <p:cNvSpPr/>
          <p:nvPr/>
        </p:nvSpPr>
        <p:spPr>
          <a:xfrm>
            <a:off x="951563" y="829344"/>
            <a:ext cx="122000" cy="122000"/>
          </a:xfrm>
          <a:prstGeom prst="ellipse">
            <a:avLst/>
          </a:prstGeom>
          <a:solidFill>
            <a:srgbClr val="28C840"/>
          </a:solidFill>
          <a:ln w="12700" cap="flat" cmpd="sng">
            <a:solidFill>
              <a:srgbClr val="28C8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54" name="Google Shape;179;p7">
            <a:extLst>
              <a:ext uri="{FF2B5EF4-FFF2-40B4-BE49-F238E27FC236}">
                <a16:creationId xmlns:a16="http://schemas.microsoft.com/office/drawing/2014/main" id="{81FAD884-FBBD-4EF5-844A-80B5180C9BC7}"/>
              </a:ext>
            </a:extLst>
          </p:cNvPr>
          <p:cNvSpPr/>
          <p:nvPr/>
        </p:nvSpPr>
        <p:spPr>
          <a:xfrm>
            <a:off x="1597154" y="5203445"/>
            <a:ext cx="1126198" cy="1482151"/>
          </a:xfrm>
          <a:prstGeom prst="rect">
            <a:avLst/>
          </a:prstGeom>
          <a:solidFill>
            <a:srgbClr val="1E293B"/>
          </a:solidFill>
          <a:ln w="254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Amit</a:t>
            </a:r>
          </a:p>
          <a:p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90</a:t>
            </a:r>
          </a:p>
          <a:p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Dhaka</a:t>
            </a:r>
          </a:p>
        </p:txBody>
      </p:sp>
      <p:sp>
        <p:nvSpPr>
          <p:cNvPr id="55" name="Google Shape;181;p7">
            <a:extLst>
              <a:ext uri="{FF2B5EF4-FFF2-40B4-BE49-F238E27FC236}">
                <a16:creationId xmlns:a16="http://schemas.microsoft.com/office/drawing/2014/main" id="{B479265B-4C9B-4E0C-B208-A9741BB8E287}"/>
              </a:ext>
            </a:extLst>
          </p:cNvPr>
          <p:cNvSpPr/>
          <p:nvPr/>
        </p:nvSpPr>
        <p:spPr>
          <a:xfrm>
            <a:off x="1648182" y="5139795"/>
            <a:ext cx="3705545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A78BFA"/>
              </a:buClr>
              <a:buSzPts val="1200"/>
            </a:pPr>
            <a:r>
              <a:rPr lang="en-US" sz="1600" b="1" dirty="0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33C1CD5-3CC9-4F9F-B3CD-A6E54DB186B4}"/>
              </a:ext>
            </a:extLst>
          </p:cNvPr>
          <p:cNvSpPr txBox="1"/>
          <p:nvPr/>
        </p:nvSpPr>
        <p:spPr>
          <a:xfrm>
            <a:off x="479440" y="1000930"/>
            <a:ext cx="459496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get_person_info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"Alice"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   </a:t>
            </a:r>
          </a:p>
          <a:p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"age"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"city"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"New York"</a:t>
            </a:r>
            <a:endParaRPr lang="en-US" sz="2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get_person_info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endParaRPr lang="en-US" sz="2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]) </a:t>
            </a:r>
          </a:p>
          <a:p>
            <a:r>
              <a:rPr lang="en-US" sz="20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"age"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US" sz="20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"city"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])</a:t>
            </a:r>
          </a:p>
        </p:txBody>
      </p:sp>
      <p:sp>
        <p:nvSpPr>
          <p:cNvPr id="28" name="Google Shape;127;p16">
            <a:extLst>
              <a:ext uri="{FF2B5EF4-FFF2-40B4-BE49-F238E27FC236}">
                <a16:creationId xmlns:a16="http://schemas.microsoft.com/office/drawing/2014/main" id="{951A5F87-5102-4CF8-AA11-AC1C455F5E40}"/>
              </a:ext>
            </a:extLst>
          </p:cNvPr>
          <p:cNvSpPr txBox="1"/>
          <p:nvPr/>
        </p:nvSpPr>
        <p:spPr>
          <a:xfrm>
            <a:off x="5710331" y="252247"/>
            <a:ext cx="654254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Using a Dictionary as  Function Parameter</a:t>
            </a:r>
            <a:endParaRPr lang="en-US" sz="24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F76BE9D-F59D-43C5-A9C4-51E80A79CE45}"/>
              </a:ext>
            </a:extLst>
          </p:cNvPr>
          <p:cNvCxnSpPr>
            <a:stCxn id="127" idx="3"/>
          </p:cNvCxnSpPr>
          <p:nvPr/>
        </p:nvCxnSpPr>
        <p:spPr>
          <a:xfrm>
            <a:off x="5475890" y="436913"/>
            <a:ext cx="0" cy="6248683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8" name="Google Shape;167;p7">
            <a:extLst>
              <a:ext uri="{FF2B5EF4-FFF2-40B4-BE49-F238E27FC236}">
                <a16:creationId xmlns:a16="http://schemas.microsoft.com/office/drawing/2014/main" id="{59B8C963-747B-4671-9AEC-240926641AFF}"/>
              </a:ext>
            </a:extLst>
          </p:cNvPr>
          <p:cNvSpPr/>
          <p:nvPr/>
        </p:nvSpPr>
        <p:spPr>
          <a:xfrm>
            <a:off x="5580571" y="1243158"/>
            <a:ext cx="6441721" cy="2697193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39" name="Google Shape;168;p7">
            <a:extLst>
              <a:ext uri="{FF2B5EF4-FFF2-40B4-BE49-F238E27FC236}">
                <a16:creationId xmlns:a16="http://schemas.microsoft.com/office/drawing/2014/main" id="{CB09D5C4-924F-44D8-9192-C3F4A29F77D8}"/>
              </a:ext>
            </a:extLst>
          </p:cNvPr>
          <p:cNvSpPr/>
          <p:nvPr/>
        </p:nvSpPr>
        <p:spPr>
          <a:xfrm>
            <a:off x="5726883" y="1340695"/>
            <a:ext cx="122000" cy="122000"/>
          </a:xfrm>
          <a:prstGeom prst="ellipse">
            <a:avLst/>
          </a:prstGeom>
          <a:solidFill>
            <a:srgbClr val="FF5F57"/>
          </a:solidFill>
          <a:ln w="12700" cap="flat" cmpd="sng">
            <a:solidFill>
              <a:srgbClr val="FF5F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40" name="Google Shape;169;p7">
            <a:extLst>
              <a:ext uri="{FF2B5EF4-FFF2-40B4-BE49-F238E27FC236}">
                <a16:creationId xmlns:a16="http://schemas.microsoft.com/office/drawing/2014/main" id="{B7D384C6-D72D-46A5-943A-3C31547EC3AB}"/>
              </a:ext>
            </a:extLst>
          </p:cNvPr>
          <p:cNvSpPr/>
          <p:nvPr/>
        </p:nvSpPr>
        <p:spPr>
          <a:xfrm>
            <a:off x="5909763" y="1340695"/>
            <a:ext cx="122000" cy="122000"/>
          </a:xfrm>
          <a:prstGeom prst="ellipse">
            <a:avLst/>
          </a:prstGeom>
          <a:solidFill>
            <a:srgbClr val="FEBC2E"/>
          </a:solidFill>
          <a:ln w="12700" cap="flat" cmpd="sng">
            <a:solidFill>
              <a:srgbClr val="FEB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59" name="Google Shape;170;p7">
            <a:extLst>
              <a:ext uri="{FF2B5EF4-FFF2-40B4-BE49-F238E27FC236}">
                <a16:creationId xmlns:a16="http://schemas.microsoft.com/office/drawing/2014/main" id="{71FFAD35-8A9D-47A1-9A0F-85DCF4D44A00}"/>
              </a:ext>
            </a:extLst>
          </p:cNvPr>
          <p:cNvSpPr/>
          <p:nvPr/>
        </p:nvSpPr>
        <p:spPr>
          <a:xfrm>
            <a:off x="6092643" y="1340695"/>
            <a:ext cx="122000" cy="122000"/>
          </a:xfrm>
          <a:prstGeom prst="ellipse">
            <a:avLst/>
          </a:prstGeom>
          <a:solidFill>
            <a:srgbClr val="28C840"/>
          </a:solidFill>
          <a:ln w="12700" cap="flat" cmpd="sng">
            <a:solidFill>
              <a:srgbClr val="28C8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60" name="Google Shape;179;p7">
            <a:extLst>
              <a:ext uri="{FF2B5EF4-FFF2-40B4-BE49-F238E27FC236}">
                <a16:creationId xmlns:a16="http://schemas.microsoft.com/office/drawing/2014/main" id="{509CE6E0-389F-4CB7-B07E-90FE11F62A43}"/>
              </a:ext>
            </a:extLst>
          </p:cNvPr>
          <p:cNvSpPr/>
          <p:nvPr/>
        </p:nvSpPr>
        <p:spPr>
          <a:xfrm>
            <a:off x="7923934" y="4276470"/>
            <a:ext cx="2101389" cy="1482151"/>
          </a:xfrm>
          <a:prstGeom prst="rect">
            <a:avLst/>
          </a:prstGeom>
          <a:solidFill>
            <a:srgbClr val="1E293B"/>
          </a:solidFill>
          <a:ln w="254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Name: Bob</a:t>
            </a:r>
          </a:p>
          <a:p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Age: 25</a:t>
            </a:r>
          </a:p>
          <a:p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City: Unknown</a:t>
            </a:r>
          </a:p>
        </p:txBody>
      </p:sp>
      <p:sp>
        <p:nvSpPr>
          <p:cNvPr id="61" name="Google Shape;181;p7">
            <a:extLst>
              <a:ext uri="{FF2B5EF4-FFF2-40B4-BE49-F238E27FC236}">
                <a16:creationId xmlns:a16="http://schemas.microsoft.com/office/drawing/2014/main" id="{F74C461F-6222-475A-A1DD-A1E8EDFE4B37}"/>
              </a:ext>
            </a:extLst>
          </p:cNvPr>
          <p:cNvSpPr/>
          <p:nvPr/>
        </p:nvSpPr>
        <p:spPr>
          <a:xfrm>
            <a:off x="7974963" y="4212820"/>
            <a:ext cx="3705545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A78BFA"/>
              </a:buClr>
              <a:buSzPts val="1200"/>
            </a:pPr>
            <a:r>
              <a:rPr lang="en-US" sz="1600" b="1" dirty="0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5226C75-ED01-4DA7-AB3B-F413D72564DB}"/>
              </a:ext>
            </a:extLst>
          </p:cNvPr>
          <p:cNvSpPr txBox="1"/>
          <p:nvPr/>
        </p:nvSpPr>
        <p:spPr>
          <a:xfrm>
            <a:off x="5620519" y="1512281"/>
            <a:ext cx="6590941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print_user_info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2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"Name</a:t>
            </a:r>
            <a:r>
              <a:rPr lang="en-US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2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'name'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2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2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"Age</a:t>
            </a:r>
            <a:r>
              <a:rPr lang="en-US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2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'age'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2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   </a:t>
            </a:r>
          </a:p>
          <a:p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 </a:t>
            </a:r>
            <a:r>
              <a:rPr lang="en-US" sz="18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 err="1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8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"City</a:t>
            </a:r>
            <a:r>
              <a:rPr lang="en-US" sz="18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8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8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8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.get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'city'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'Unknown'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8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8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user_data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"Bob"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"age"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2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print_user_info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user_data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03252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399543" y="252247"/>
            <a:ext cx="50763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Keyword Arguments (Like 8.10)</a:t>
            </a:r>
            <a:endParaRPr lang="en-US" sz="2400" dirty="0"/>
          </a:p>
        </p:txBody>
      </p:sp>
      <p:sp>
        <p:nvSpPr>
          <p:cNvPr id="50" name="Google Shape;167;p7">
            <a:extLst>
              <a:ext uri="{FF2B5EF4-FFF2-40B4-BE49-F238E27FC236}">
                <a16:creationId xmlns:a16="http://schemas.microsoft.com/office/drawing/2014/main" id="{B3A69187-4173-46C8-8EFE-E5146B7EBCDA}"/>
              </a:ext>
            </a:extLst>
          </p:cNvPr>
          <p:cNvSpPr/>
          <p:nvPr/>
        </p:nvSpPr>
        <p:spPr>
          <a:xfrm>
            <a:off x="439492" y="731808"/>
            <a:ext cx="6739074" cy="1853738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51" name="Google Shape;168;p7">
            <a:extLst>
              <a:ext uri="{FF2B5EF4-FFF2-40B4-BE49-F238E27FC236}">
                <a16:creationId xmlns:a16="http://schemas.microsoft.com/office/drawing/2014/main" id="{6D26AE94-32C7-4483-B6A7-E4A2BC5EC287}"/>
              </a:ext>
            </a:extLst>
          </p:cNvPr>
          <p:cNvSpPr/>
          <p:nvPr/>
        </p:nvSpPr>
        <p:spPr>
          <a:xfrm>
            <a:off x="585803" y="829344"/>
            <a:ext cx="122000" cy="122000"/>
          </a:xfrm>
          <a:prstGeom prst="ellipse">
            <a:avLst/>
          </a:prstGeom>
          <a:solidFill>
            <a:srgbClr val="FF5F57"/>
          </a:solidFill>
          <a:ln w="12700" cap="flat" cmpd="sng">
            <a:solidFill>
              <a:srgbClr val="FF5F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52" name="Google Shape;169;p7">
            <a:extLst>
              <a:ext uri="{FF2B5EF4-FFF2-40B4-BE49-F238E27FC236}">
                <a16:creationId xmlns:a16="http://schemas.microsoft.com/office/drawing/2014/main" id="{C10A5F3D-D652-4F36-BDE3-A023A3481E68}"/>
              </a:ext>
            </a:extLst>
          </p:cNvPr>
          <p:cNvSpPr/>
          <p:nvPr/>
        </p:nvSpPr>
        <p:spPr>
          <a:xfrm>
            <a:off x="768683" y="829344"/>
            <a:ext cx="122000" cy="122000"/>
          </a:xfrm>
          <a:prstGeom prst="ellipse">
            <a:avLst/>
          </a:prstGeom>
          <a:solidFill>
            <a:srgbClr val="FEBC2E"/>
          </a:solidFill>
          <a:ln w="12700" cap="flat" cmpd="sng">
            <a:solidFill>
              <a:srgbClr val="FEB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53" name="Google Shape;170;p7">
            <a:extLst>
              <a:ext uri="{FF2B5EF4-FFF2-40B4-BE49-F238E27FC236}">
                <a16:creationId xmlns:a16="http://schemas.microsoft.com/office/drawing/2014/main" id="{8A7089FE-508C-40BE-9CB7-17CE6351E52E}"/>
              </a:ext>
            </a:extLst>
          </p:cNvPr>
          <p:cNvSpPr/>
          <p:nvPr/>
        </p:nvSpPr>
        <p:spPr>
          <a:xfrm>
            <a:off x="951563" y="829344"/>
            <a:ext cx="122000" cy="122000"/>
          </a:xfrm>
          <a:prstGeom prst="ellipse">
            <a:avLst/>
          </a:prstGeom>
          <a:solidFill>
            <a:srgbClr val="28C840"/>
          </a:solidFill>
          <a:ln w="12700" cap="flat" cmpd="sng">
            <a:solidFill>
              <a:srgbClr val="28C8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54" name="Google Shape;179;p7">
            <a:extLst>
              <a:ext uri="{FF2B5EF4-FFF2-40B4-BE49-F238E27FC236}">
                <a16:creationId xmlns:a16="http://schemas.microsoft.com/office/drawing/2014/main" id="{81FAD884-FBBD-4EF5-844A-80B5180C9BC7}"/>
              </a:ext>
            </a:extLst>
          </p:cNvPr>
          <p:cNvSpPr/>
          <p:nvPr/>
        </p:nvSpPr>
        <p:spPr>
          <a:xfrm>
            <a:off x="7324876" y="853761"/>
            <a:ext cx="4281321" cy="964529"/>
          </a:xfrm>
          <a:prstGeom prst="rect">
            <a:avLst/>
          </a:prstGeom>
          <a:solidFill>
            <a:srgbClr val="1E293B"/>
          </a:solidFill>
          <a:ln w="254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I have a dog named Buddy.</a:t>
            </a:r>
          </a:p>
        </p:txBody>
      </p:sp>
      <p:sp>
        <p:nvSpPr>
          <p:cNvPr id="55" name="Google Shape;181;p7">
            <a:extLst>
              <a:ext uri="{FF2B5EF4-FFF2-40B4-BE49-F238E27FC236}">
                <a16:creationId xmlns:a16="http://schemas.microsoft.com/office/drawing/2014/main" id="{B479265B-4C9B-4E0C-B208-A9741BB8E287}"/>
              </a:ext>
            </a:extLst>
          </p:cNvPr>
          <p:cNvSpPr/>
          <p:nvPr/>
        </p:nvSpPr>
        <p:spPr>
          <a:xfrm>
            <a:off x="7375905" y="790111"/>
            <a:ext cx="3705545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A78BFA"/>
              </a:buClr>
              <a:buSzPts val="1200"/>
            </a:pPr>
            <a:r>
              <a:rPr lang="en-US" sz="1600" b="1" dirty="0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33C1CD5-3CC9-4F9F-B3CD-A6E54DB186B4}"/>
              </a:ext>
            </a:extLst>
          </p:cNvPr>
          <p:cNvSpPr txBox="1"/>
          <p:nvPr/>
        </p:nvSpPr>
        <p:spPr>
          <a:xfrm>
            <a:off x="479440" y="1000930"/>
            <a:ext cx="715107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describe_pet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animal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2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"I</a:t>
            </a:r>
            <a:r>
              <a:rPr lang="en-US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have a </a:t>
            </a:r>
            <a:r>
              <a:rPr lang="en-US" sz="2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2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animal</a:t>
            </a:r>
            <a:r>
              <a:rPr lang="en-US" sz="2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named </a:t>
            </a:r>
            <a:r>
              <a:rPr lang="en-US" sz="2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2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2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describe_pet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animal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"dog"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"Buddy"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</a:p>
        </p:txBody>
      </p:sp>
      <p:sp>
        <p:nvSpPr>
          <p:cNvPr id="21" name="Google Shape;127;p16">
            <a:extLst>
              <a:ext uri="{FF2B5EF4-FFF2-40B4-BE49-F238E27FC236}">
                <a16:creationId xmlns:a16="http://schemas.microsoft.com/office/drawing/2014/main" id="{08CDCDCF-964B-483B-864D-B72E5F029E73}"/>
              </a:ext>
            </a:extLst>
          </p:cNvPr>
          <p:cNvSpPr txBox="1"/>
          <p:nvPr/>
        </p:nvSpPr>
        <p:spPr>
          <a:xfrm>
            <a:off x="319646" y="2649196"/>
            <a:ext cx="64005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Variable Length  Arguments (</a:t>
            </a:r>
            <a:r>
              <a:rPr lang="en-US" sz="2400" b="1" dirty="0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Like 8.11)</a:t>
            </a:r>
            <a:endParaRPr lang="en-US" sz="2400" dirty="0"/>
          </a:p>
        </p:txBody>
      </p:sp>
      <p:sp>
        <p:nvSpPr>
          <p:cNvPr id="22" name="Google Shape;167;p7">
            <a:extLst>
              <a:ext uri="{FF2B5EF4-FFF2-40B4-BE49-F238E27FC236}">
                <a16:creationId xmlns:a16="http://schemas.microsoft.com/office/drawing/2014/main" id="{F3722A52-4D25-40AA-BFCD-7296BC159056}"/>
              </a:ext>
            </a:extLst>
          </p:cNvPr>
          <p:cNvSpPr/>
          <p:nvPr/>
        </p:nvSpPr>
        <p:spPr>
          <a:xfrm>
            <a:off x="359595" y="3128757"/>
            <a:ext cx="3865564" cy="1853738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23" name="Google Shape;168;p7">
            <a:extLst>
              <a:ext uri="{FF2B5EF4-FFF2-40B4-BE49-F238E27FC236}">
                <a16:creationId xmlns:a16="http://schemas.microsoft.com/office/drawing/2014/main" id="{6E10DB26-5714-456B-8116-23F2E8FF44A7}"/>
              </a:ext>
            </a:extLst>
          </p:cNvPr>
          <p:cNvSpPr/>
          <p:nvPr/>
        </p:nvSpPr>
        <p:spPr>
          <a:xfrm>
            <a:off x="505906" y="3226293"/>
            <a:ext cx="122000" cy="122000"/>
          </a:xfrm>
          <a:prstGeom prst="ellipse">
            <a:avLst/>
          </a:prstGeom>
          <a:solidFill>
            <a:srgbClr val="FF5F57"/>
          </a:solidFill>
          <a:ln w="12700" cap="flat" cmpd="sng">
            <a:solidFill>
              <a:srgbClr val="FF5F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24" name="Google Shape;169;p7">
            <a:extLst>
              <a:ext uri="{FF2B5EF4-FFF2-40B4-BE49-F238E27FC236}">
                <a16:creationId xmlns:a16="http://schemas.microsoft.com/office/drawing/2014/main" id="{1E5DC468-84EA-44AE-B88E-6E2C829030E3}"/>
              </a:ext>
            </a:extLst>
          </p:cNvPr>
          <p:cNvSpPr/>
          <p:nvPr/>
        </p:nvSpPr>
        <p:spPr>
          <a:xfrm>
            <a:off x="688786" y="3226293"/>
            <a:ext cx="122000" cy="122000"/>
          </a:xfrm>
          <a:prstGeom prst="ellipse">
            <a:avLst/>
          </a:prstGeom>
          <a:solidFill>
            <a:srgbClr val="FEBC2E"/>
          </a:solidFill>
          <a:ln w="12700" cap="flat" cmpd="sng">
            <a:solidFill>
              <a:srgbClr val="FEB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25" name="Google Shape;170;p7">
            <a:extLst>
              <a:ext uri="{FF2B5EF4-FFF2-40B4-BE49-F238E27FC236}">
                <a16:creationId xmlns:a16="http://schemas.microsoft.com/office/drawing/2014/main" id="{F93CD9BA-4C1E-47AC-A50A-2C29FA05CBDD}"/>
              </a:ext>
            </a:extLst>
          </p:cNvPr>
          <p:cNvSpPr/>
          <p:nvPr/>
        </p:nvSpPr>
        <p:spPr>
          <a:xfrm>
            <a:off x="871666" y="3226293"/>
            <a:ext cx="122000" cy="122000"/>
          </a:xfrm>
          <a:prstGeom prst="ellipse">
            <a:avLst/>
          </a:prstGeom>
          <a:solidFill>
            <a:srgbClr val="28C840"/>
          </a:solidFill>
          <a:ln w="12700" cap="flat" cmpd="sng">
            <a:solidFill>
              <a:srgbClr val="28C8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26" name="Google Shape;179;p7">
            <a:extLst>
              <a:ext uri="{FF2B5EF4-FFF2-40B4-BE49-F238E27FC236}">
                <a16:creationId xmlns:a16="http://schemas.microsoft.com/office/drawing/2014/main" id="{4D4F5480-7C52-47CD-A570-3E6D1FD8F045}"/>
              </a:ext>
            </a:extLst>
          </p:cNvPr>
          <p:cNvSpPr/>
          <p:nvPr/>
        </p:nvSpPr>
        <p:spPr>
          <a:xfrm>
            <a:off x="4371470" y="3317354"/>
            <a:ext cx="1027771" cy="1631216"/>
          </a:xfrm>
          <a:prstGeom prst="rect">
            <a:avLst/>
          </a:prstGeom>
          <a:solidFill>
            <a:srgbClr val="1E293B"/>
          </a:solidFill>
          <a:ln w="254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27" name="Google Shape;181;p7">
            <a:extLst>
              <a:ext uri="{FF2B5EF4-FFF2-40B4-BE49-F238E27FC236}">
                <a16:creationId xmlns:a16="http://schemas.microsoft.com/office/drawing/2014/main" id="{9F663EDE-B289-4B4C-9261-71C4E7845A54}"/>
              </a:ext>
            </a:extLst>
          </p:cNvPr>
          <p:cNvSpPr/>
          <p:nvPr/>
        </p:nvSpPr>
        <p:spPr>
          <a:xfrm>
            <a:off x="4438029" y="3233814"/>
            <a:ext cx="859185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A78BFA"/>
              </a:buClr>
              <a:buSzPts val="1200"/>
            </a:pPr>
            <a:r>
              <a:rPr lang="en-US" sz="1600" b="1" dirty="0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991509-6695-4FA0-AC81-028F05DF3F01}"/>
              </a:ext>
            </a:extLst>
          </p:cNvPr>
          <p:cNvSpPr txBox="1"/>
          <p:nvPr/>
        </p:nvSpPr>
        <p:spPr>
          <a:xfrm>
            <a:off x="399543" y="3397879"/>
            <a:ext cx="374153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print_numbers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0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print_numbers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16243A-778B-45BE-827C-4E072EDF7B45}"/>
              </a:ext>
            </a:extLst>
          </p:cNvPr>
          <p:cNvCxnSpPr/>
          <p:nvPr/>
        </p:nvCxnSpPr>
        <p:spPr>
          <a:xfrm>
            <a:off x="5665076" y="3182449"/>
            <a:ext cx="0" cy="337946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Google Shape;167;p7">
            <a:extLst>
              <a:ext uri="{FF2B5EF4-FFF2-40B4-BE49-F238E27FC236}">
                <a16:creationId xmlns:a16="http://schemas.microsoft.com/office/drawing/2014/main" id="{D7A9335A-C508-4465-BEE0-8D30D068C072}"/>
              </a:ext>
            </a:extLst>
          </p:cNvPr>
          <p:cNvSpPr/>
          <p:nvPr/>
        </p:nvSpPr>
        <p:spPr>
          <a:xfrm>
            <a:off x="5863934" y="3145807"/>
            <a:ext cx="5498257" cy="1853738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32" name="Google Shape;168;p7">
            <a:extLst>
              <a:ext uri="{FF2B5EF4-FFF2-40B4-BE49-F238E27FC236}">
                <a16:creationId xmlns:a16="http://schemas.microsoft.com/office/drawing/2014/main" id="{CE9B1621-E8B9-4B02-A7DC-4401677D1FB8}"/>
              </a:ext>
            </a:extLst>
          </p:cNvPr>
          <p:cNvSpPr/>
          <p:nvPr/>
        </p:nvSpPr>
        <p:spPr>
          <a:xfrm>
            <a:off x="6010246" y="3243343"/>
            <a:ext cx="122000" cy="122000"/>
          </a:xfrm>
          <a:prstGeom prst="ellipse">
            <a:avLst/>
          </a:prstGeom>
          <a:solidFill>
            <a:srgbClr val="FF5F57"/>
          </a:solidFill>
          <a:ln w="12700" cap="flat" cmpd="sng">
            <a:solidFill>
              <a:srgbClr val="FF5F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33" name="Google Shape;169;p7">
            <a:extLst>
              <a:ext uri="{FF2B5EF4-FFF2-40B4-BE49-F238E27FC236}">
                <a16:creationId xmlns:a16="http://schemas.microsoft.com/office/drawing/2014/main" id="{D9C8A65A-96EC-4F5E-8056-A191434049FF}"/>
              </a:ext>
            </a:extLst>
          </p:cNvPr>
          <p:cNvSpPr/>
          <p:nvPr/>
        </p:nvSpPr>
        <p:spPr>
          <a:xfrm>
            <a:off x="6193126" y="3243343"/>
            <a:ext cx="122000" cy="122000"/>
          </a:xfrm>
          <a:prstGeom prst="ellipse">
            <a:avLst/>
          </a:prstGeom>
          <a:solidFill>
            <a:srgbClr val="FEBC2E"/>
          </a:solidFill>
          <a:ln w="12700" cap="flat" cmpd="sng">
            <a:solidFill>
              <a:srgbClr val="FEB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34" name="Google Shape;170;p7">
            <a:extLst>
              <a:ext uri="{FF2B5EF4-FFF2-40B4-BE49-F238E27FC236}">
                <a16:creationId xmlns:a16="http://schemas.microsoft.com/office/drawing/2014/main" id="{D3BFA7AF-951E-45E3-BAB9-5113E8847BD6}"/>
              </a:ext>
            </a:extLst>
          </p:cNvPr>
          <p:cNvSpPr/>
          <p:nvPr/>
        </p:nvSpPr>
        <p:spPr>
          <a:xfrm>
            <a:off x="6376006" y="3243343"/>
            <a:ext cx="122000" cy="122000"/>
          </a:xfrm>
          <a:prstGeom prst="ellipse">
            <a:avLst/>
          </a:prstGeom>
          <a:solidFill>
            <a:srgbClr val="28C840"/>
          </a:solidFill>
          <a:ln w="12700" cap="flat" cmpd="sng">
            <a:solidFill>
              <a:srgbClr val="28C8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7A7F03-7E6F-4451-9727-3CFA8C17EEA6}"/>
              </a:ext>
            </a:extLst>
          </p:cNvPr>
          <p:cNvSpPr txBox="1"/>
          <p:nvPr/>
        </p:nvSpPr>
        <p:spPr>
          <a:xfrm>
            <a:off x="5903883" y="3414929"/>
            <a:ext cx="545831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print_info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kwargs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kwargs</a:t>
            </a:r>
            <a:r>
              <a:rPr lang="en-US" sz="20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items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2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sz="2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2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2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print_info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"Amit"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2" name="Google Shape;179;p7">
            <a:extLst>
              <a:ext uri="{FF2B5EF4-FFF2-40B4-BE49-F238E27FC236}">
                <a16:creationId xmlns:a16="http://schemas.microsoft.com/office/drawing/2014/main" id="{096735CB-3FB7-4827-8215-43B792439927}"/>
              </a:ext>
            </a:extLst>
          </p:cNvPr>
          <p:cNvSpPr/>
          <p:nvPr/>
        </p:nvSpPr>
        <p:spPr>
          <a:xfrm>
            <a:off x="7324876" y="5297696"/>
            <a:ext cx="2367245" cy="1118748"/>
          </a:xfrm>
          <a:prstGeom prst="rect">
            <a:avLst/>
          </a:prstGeom>
          <a:solidFill>
            <a:srgbClr val="1E293B"/>
          </a:solidFill>
          <a:ln w="254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name: Amit</a:t>
            </a:r>
          </a:p>
          <a:p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age: 60</a:t>
            </a:r>
          </a:p>
        </p:txBody>
      </p:sp>
      <p:sp>
        <p:nvSpPr>
          <p:cNvPr id="43" name="Google Shape;181;p7">
            <a:extLst>
              <a:ext uri="{FF2B5EF4-FFF2-40B4-BE49-F238E27FC236}">
                <a16:creationId xmlns:a16="http://schemas.microsoft.com/office/drawing/2014/main" id="{A6FFFFE8-342F-42BD-9812-B6787561C51F}"/>
              </a:ext>
            </a:extLst>
          </p:cNvPr>
          <p:cNvSpPr/>
          <p:nvPr/>
        </p:nvSpPr>
        <p:spPr>
          <a:xfrm>
            <a:off x="7391435" y="5214156"/>
            <a:ext cx="859185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A78BFA"/>
              </a:buClr>
              <a:buSzPts val="1200"/>
            </a:pPr>
            <a:r>
              <a:rPr lang="en-US" sz="1600" b="1" dirty="0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32703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167;p7">
            <a:extLst>
              <a:ext uri="{FF2B5EF4-FFF2-40B4-BE49-F238E27FC236}">
                <a16:creationId xmlns:a16="http://schemas.microsoft.com/office/drawing/2014/main" id="{5F9C8F54-E980-4D94-8E2E-85C69FEE837E}"/>
              </a:ext>
            </a:extLst>
          </p:cNvPr>
          <p:cNvSpPr/>
          <p:nvPr/>
        </p:nvSpPr>
        <p:spPr>
          <a:xfrm>
            <a:off x="8220984" y="2394128"/>
            <a:ext cx="3732891" cy="28610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228" name="Google Shape;228;p23"/>
          <p:cNvSpPr txBox="1"/>
          <p:nvPr/>
        </p:nvSpPr>
        <p:spPr>
          <a:xfrm>
            <a:off x="952500" y="571500"/>
            <a:ext cx="11001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Docstring</a:t>
            </a:r>
            <a:endParaRPr dirty="0"/>
          </a:p>
        </p:txBody>
      </p:sp>
      <p:sp>
        <p:nvSpPr>
          <p:cNvPr id="229" name="Google Shape;229;p23"/>
          <p:cNvSpPr/>
          <p:nvPr/>
        </p:nvSpPr>
        <p:spPr>
          <a:xfrm>
            <a:off x="762000" y="571500"/>
            <a:ext cx="57150" cy="5143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223;p23">
            <a:extLst>
              <a:ext uri="{FF2B5EF4-FFF2-40B4-BE49-F238E27FC236}">
                <a16:creationId xmlns:a16="http://schemas.microsoft.com/office/drawing/2014/main" id="{F4AC1A37-0E82-4E9B-B863-74B5CC7A10A3}"/>
              </a:ext>
            </a:extLst>
          </p:cNvPr>
          <p:cNvSpPr txBox="1"/>
          <p:nvPr/>
        </p:nvSpPr>
        <p:spPr>
          <a:xfrm>
            <a:off x="8254944" y="2529379"/>
            <a:ext cx="3599341" cy="1454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1" u="none" strike="noStrike" cap="none" dirty="0">
                <a:solidFill>
                  <a:schemeClr val="accent6">
                    <a:lumMod val="5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"Code is read much more often than it is written." </a:t>
            </a:r>
            <a:endParaRPr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1" name="Google Shape;224;p23">
            <a:extLst>
              <a:ext uri="{FF2B5EF4-FFF2-40B4-BE49-F238E27FC236}">
                <a16:creationId xmlns:a16="http://schemas.microsoft.com/office/drawing/2014/main" id="{D37332B0-3029-4C46-8075-8EBFB1D5593C}"/>
              </a:ext>
            </a:extLst>
          </p:cNvPr>
          <p:cNvSpPr txBox="1"/>
          <p:nvPr/>
        </p:nvSpPr>
        <p:spPr>
          <a:xfrm>
            <a:off x="9491068" y="4218819"/>
            <a:ext cx="246280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accent5">
                    <a:lumMod val="50000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— Guido van Rossum (Creator of Python)</a:t>
            </a:r>
            <a:endParaRPr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Google Shape;225;p23">
            <a:extLst>
              <a:ext uri="{FF2B5EF4-FFF2-40B4-BE49-F238E27FC236}">
                <a16:creationId xmlns:a16="http://schemas.microsoft.com/office/drawing/2014/main" id="{5ACBA837-5558-42DA-8A45-EE14DFE045B5}"/>
              </a:ext>
            </a:extLst>
          </p:cNvPr>
          <p:cNvSpPr txBox="1"/>
          <p:nvPr/>
        </p:nvSpPr>
        <p:spPr>
          <a:xfrm>
            <a:off x="3203364" y="366539"/>
            <a:ext cx="5785272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accent6">
                    <a:lumMod val="60000"/>
                    <a:lumOff val="4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Use </a:t>
            </a:r>
            <a:r>
              <a:rPr lang="en-US" sz="1800" b="1" i="0" u="none" strike="noStrike" cap="none" dirty="0">
                <a:solidFill>
                  <a:schemeClr val="accent6">
                    <a:lumMod val="60000"/>
                    <a:lumOff val="4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Docstrings</a:t>
            </a:r>
            <a:r>
              <a:rPr lang="en-US" sz="1800" b="0" i="0" u="none" strike="noStrike" cap="none" dirty="0">
                <a:solidFill>
                  <a:schemeClr val="accent6">
                    <a:lumMod val="60000"/>
                    <a:lumOff val="4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(triple quotes """) to explain what your function does so others can use it easily.</a:t>
            </a:r>
            <a:endParaRPr sz="1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2" name="Google Shape;167;p7">
            <a:extLst>
              <a:ext uri="{FF2B5EF4-FFF2-40B4-BE49-F238E27FC236}">
                <a16:creationId xmlns:a16="http://schemas.microsoft.com/office/drawing/2014/main" id="{51C48159-C968-4C14-A854-08E6EE100629}"/>
              </a:ext>
            </a:extLst>
          </p:cNvPr>
          <p:cNvSpPr/>
          <p:nvPr/>
        </p:nvSpPr>
        <p:spPr>
          <a:xfrm>
            <a:off x="582871" y="1290761"/>
            <a:ext cx="6989801" cy="2309120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23" name="Google Shape;168;p7">
            <a:extLst>
              <a:ext uri="{FF2B5EF4-FFF2-40B4-BE49-F238E27FC236}">
                <a16:creationId xmlns:a16="http://schemas.microsoft.com/office/drawing/2014/main" id="{978907F3-6928-4E09-A8C6-1ABA1F72A66E}"/>
              </a:ext>
            </a:extLst>
          </p:cNvPr>
          <p:cNvSpPr/>
          <p:nvPr/>
        </p:nvSpPr>
        <p:spPr>
          <a:xfrm>
            <a:off x="729183" y="1388297"/>
            <a:ext cx="122000" cy="122000"/>
          </a:xfrm>
          <a:prstGeom prst="ellipse">
            <a:avLst/>
          </a:prstGeom>
          <a:solidFill>
            <a:srgbClr val="FF5F57"/>
          </a:solidFill>
          <a:ln w="12700" cap="flat" cmpd="sng">
            <a:solidFill>
              <a:srgbClr val="FF5F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24" name="Google Shape;169;p7">
            <a:extLst>
              <a:ext uri="{FF2B5EF4-FFF2-40B4-BE49-F238E27FC236}">
                <a16:creationId xmlns:a16="http://schemas.microsoft.com/office/drawing/2014/main" id="{EF5B08F7-1FBD-4292-9112-249673592C22}"/>
              </a:ext>
            </a:extLst>
          </p:cNvPr>
          <p:cNvSpPr/>
          <p:nvPr/>
        </p:nvSpPr>
        <p:spPr>
          <a:xfrm>
            <a:off x="912063" y="1388297"/>
            <a:ext cx="122000" cy="122000"/>
          </a:xfrm>
          <a:prstGeom prst="ellipse">
            <a:avLst/>
          </a:prstGeom>
          <a:solidFill>
            <a:srgbClr val="FEBC2E"/>
          </a:solidFill>
          <a:ln w="12700" cap="flat" cmpd="sng">
            <a:solidFill>
              <a:srgbClr val="FEB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25" name="Google Shape;170;p7">
            <a:extLst>
              <a:ext uri="{FF2B5EF4-FFF2-40B4-BE49-F238E27FC236}">
                <a16:creationId xmlns:a16="http://schemas.microsoft.com/office/drawing/2014/main" id="{4F2B9BB4-049E-4484-852A-2AA53566F261}"/>
              </a:ext>
            </a:extLst>
          </p:cNvPr>
          <p:cNvSpPr/>
          <p:nvPr/>
        </p:nvSpPr>
        <p:spPr>
          <a:xfrm>
            <a:off x="1094943" y="1388297"/>
            <a:ext cx="122000" cy="122000"/>
          </a:xfrm>
          <a:prstGeom prst="ellipse">
            <a:avLst/>
          </a:prstGeom>
          <a:solidFill>
            <a:srgbClr val="28C840"/>
          </a:solidFill>
          <a:ln w="12700" cap="flat" cmpd="sng">
            <a:solidFill>
              <a:srgbClr val="28C8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11BE9DF-6ED3-41EC-958A-7ECAC2375B72}"/>
              </a:ext>
            </a:extLst>
          </p:cNvPr>
          <p:cNvSpPr txBox="1"/>
          <p:nvPr/>
        </p:nvSpPr>
        <p:spPr>
          <a:xfrm>
            <a:off x="622819" y="1559883"/>
            <a:ext cx="716006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greet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""" Print a greeting to the given name."""</a:t>
            </a:r>
            <a:endParaRPr lang="en-US" sz="2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 dirty="0" err="1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20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"Hello</a:t>
            </a:r>
            <a:r>
              <a:rPr lang="en-US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2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2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!"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0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greet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"Amit"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help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greet</a:t>
            </a:r>
            <a:r>
              <a:rPr lang="en-US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</a:p>
        </p:txBody>
      </p:sp>
      <p:sp>
        <p:nvSpPr>
          <p:cNvPr id="29" name="Google Shape;179;p7">
            <a:extLst>
              <a:ext uri="{FF2B5EF4-FFF2-40B4-BE49-F238E27FC236}">
                <a16:creationId xmlns:a16="http://schemas.microsoft.com/office/drawing/2014/main" id="{98C0811B-6258-444F-B93F-942515790069}"/>
              </a:ext>
            </a:extLst>
          </p:cNvPr>
          <p:cNvSpPr/>
          <p:nvPr/>
        </p:nvSpPr>
        <p:spPr>
          <a:xfrm>
            <a:off x="622819" y="3738506"/>
            <a:ext cx="6486977" cy="1962239"/>
          </a:xfrm>
          <a:prstGeom prst="rect">
            <a:avLst/>
          </a:prstGeom>
          <a:solidFill>
            <a:srgbClr val="1E293B"/>
          </a:solidFill>
          <a:ln w="254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Hello, Amit!</a:t>
            </a:r>
          </a:p>
          <a:p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Help on function greet in module __main__:                                  </a:t>
            </a:r>
          </a:p>
          <a:p>
            <a:endParaRPr lang="en-US" sz="2000" dirty="0">
              <a:solidFill>
                <a:schemeClr val="accent2">
                  <a:lumMod val="20000"/>
                  <a:lumOff val="8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greet(name)</a:t>
            </a:r>
          </a:p>
          <a:p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   Print a greeting to the given name.</a:t>
            </a:r>
          </a:p>
        </p:txBody>
      </p:sp>
      <p:sp>
        <p:nvSpPr>
          <p:cNvPr id="32" name="Google Shape;181;p7">
            <a:extLst>
              <a:ext uri="{FF2B5EF4-FFF2-40B4-BE49-F238E27FC236}">
                <a16:creationId xmlns:a16="http://schemas.microsoft.com/office/drawing/2014/main" id="{A712BE27-3E6F-4391-8746-774BCAB1868C}"/>
              </a:ext>
            </a:extLst>
          </p:cNvPr>
          <p:cNvSpPr/>
          <p:nvPr/>
        </p:nvSpPr>
        <p:spPr>
          <a:xfrm>
            <a:off x="665350" y="3655643"/>
            <a:ext cx="859185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A78BFA"/>
              </a:buClr>
              <a:buSzPts val="1200"/>
            </a:pPr>
            <a:r>
              <a:rPr lang="en-US" sz="1600" b="1" dirty="0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3"/>
          <p:cNvSpPr txBox="1"/>
          <p:nvPr/>
        </p:nvSpPr>
        <p:spPr>
          <a:xfrm>
            <a:off x="952500" y="571500"/>
            <a:ext cx="11001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Practice Problem</a:t>
            </a:r>
            <a:endParaRPr dirty="0"/>
          </a:p>
        </p:txBody>
      </p:sp>
      <p:sp>
        <p:nvSpPr>
          <p:cNvPr id="229" name="Google Shape;229;p23"/>
          <p:cNvSpPr/>
          <p:nvPr/>
        </p:nvSpPr>
        <p:spPr>
          <a:xfrm>
            <a:off x="762000" y="571500"/>
            <a:ext cx="57150" cy="5143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3DFC70-12EA-43D8-8618-FBC452637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9" y="1355341"/>
            <a:ext cx="10500037" cy="3763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550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3"/>
          <p:cNvSpPr txBox="1"/>
          <p:nvPr/>
        </p:nvSpPr>
        <p:spPr>
          <a:xfrm>
            <a:off x="941990" y="203638"/>
            <a:ext cx="11001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Practice Problem</a:t>
            </a:r>
            <a:endParaRPr dirty="0"/>
          </a:p>
        </p:txBody>
      </p:sp>
      <p:sp>
        <p:nvSpPr>
          <p:cNvPr id="229" name="Google Shape;229;p23"/>
          <p:cNvSpPr/>
          <p:nvPr/>
        </p:nvSpPr>
        <p:spPr>
          <a:xfrm>
            <a:off x="796386" y="203638"/>
            <a:ext cx="57150" cy="5143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4B64EE-8A42-4563-884F-742B289C5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7141" y="717988"/>
            <a:ext cx="7891071" cy="6055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7339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/>
          <p:nvPr/>
        </p:nvSpPr>
        <p:spPr>
          <a:xfrm>
            <a:off x="-482162" y="2072580"/>
            <a:ext cx="7208783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Questions?</a:t>
            </a:r>
            <a:endParaRPr dirty="0"/>
          </a:p>
        </p:txBody>
      </p:sp>
      <p:sp>
        <p:nvSpPr>
          <p:cNvPr id="236" name="Google Shape;236;p24"/>
          <p:cNvSpPr txBox="1"/>
          <p:nvPr/>
        </p:nvSpPr>
        <p:spPr>
          <a:xfrm>
            <a:off x="-215462" y="3291780"/>
            <a:ext cx="6595241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You are now ready to build your own Python functions!</a:t>
            </a:r>
            <a:endParaRPr dirty="0"/>
          </a:p>
        </p:txBody>
      </p:sp>
      <p:sp>
        <p:nvSpPr>
          <p:cNvPr id="237" name="Google Shape;237;p24"/>
          <p:cNvSpPr txBox="1"/>
          <p:nvPr/>
        </p:nvSpPr>
        <p:spPr>
          <a:xfrm>
            <a:off x="714702" y="4419582"/>
            <a:ext cx="501869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Happy Coding</a:t>
            </a:r>
            <a:endParaRPr sz="2400" dirty="0"/>
          </a:p>
        </p:txBody>
      </p:sp>
      <p:pic>
        <p:nvPicPr>
          <p:cNvPr id="238" name="Google Shape;23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73645" y="4663744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90" name="Picture 2" descr="Aj Robibar Bangla Natok GIF - Aj Robibar Bangla Natok Gifgari - Discover &amp;  Share GIFs">
            <a:extLst>
              <a:ext uri="{FF2B5EF4-FFF2-40B4-BE49-F238E27FC236}">
                <a16:creationId xmlns:a16="http://schemas.microsoft.com/office/drawing/2014/main" id="{F651E9F6-C42E-47CB-96D4-704287473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4618" y="1618593"/>
            <a:ext cx="5151732" cy="4073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1005</Words>
  <Application>Microsoft Office PowerPoint</Application>
  <PresentationFormat>Widescreen</PresentationFormat>
  <Paragraphs>149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Cambria Math</vt:lpstr>
      <vt:lpstr>Arial Unicode MS</vt:lpstr>
      <vt:lpstr>Arial</vt:lpstr>
      <vt:lpstr>Inter</vt:lpstr>
      <vt:lpstr>Consolas</vt:lpstr>
      <vt:lpstr>Calibri</vt:lpstr>
      <vt:lpstr>Inter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Amit Roy</cp:lastModifiedBy>
  <cp:revision>11</cp:revision>
  <dcterms:modified xsi:type="dcterms:W3CDTF">2026-05-11T19:23:22Z</dcterms:modified>
</cp:coreProperties>
</file>