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62" r:id="rId17"/>
    <p:sldId id="264" r:id="rId18"/>
    <p:sldId id="265" r:id="rId19"/>
    <p:sldId id="266" r:id="rId20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0523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530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0820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7263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7098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6466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160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29841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91199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2700" cap="flat" cmpd="sng">
            <a:solidFill>
              <a:schemeClr val="accent4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488177"/>
            <a:ext cx="1280100" cy="2742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488177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Chapter 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67553" y="754716"/>
            <a:ext cx="26073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lang="en-US" sz="6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67553" y="1581975"/>
            <a:ext cx="4659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String Operations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457200" y="3339895"/>
            <a:ext cx="4400100" cy="975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Presented by:</a:t>
            </a:r>
            <a:endParaRPr sz="1800" b="1" dirty="0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Amit Roy</a:t>
            </a:r>
            <a:endParaRPr sz="1800" b="1" dirty="0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MSc Student at IIT</a:t>
            </a:r>
            <a:endParaRPr sz="1800" b="1" dirty="0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  What is a String?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The building block of text in Python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82880" y="1143000"/>
            <a:ext cx="4114800" cy="105156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82880" y="1143000"/>
            <a:ext cx="4114800" cy="4572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2004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📝  Definition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0040" y="15544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String is simply a piece of text — words, sentences, or any collection of characters.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82880" y="2331720"/>
            <a:ext cx="4114800" cy="105156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82880" y="2331720"/>
            <a:ext cx="4114800" cy="4572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0040" y="24231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🔒  Immutable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20040" y="2743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Once created, you can't change its original content. Python creates a new string when you modify.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82880" y="3520440"/>
            <a:ext cx="4114800" cy="105156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82880" y="3520440"/>
            <a:ext cx="4114800" cy="457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20040" y="3611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💬  3 Ways to Create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" y="39319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Single quotes ' ', double quotes " ", or triple quotes ''' ''' for multi-line text.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0" y="1143000"/>
            <a:ext cx="4389120" cy="361188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681728" y="1216152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818888" y="1216152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956048" y="1216152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681728" y="1344168"/>
            <a:ext cx="4206240" cy="335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s1 = 'Hello'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s2 = "World"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s3 = '''This 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a multi-line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string'''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print(type(s1))           # &lt;class 'str'&gt;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print(s1 + " " + s2)      # Hello World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print(s3)                 # Prints as written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7.1.1 &amp; 7.1.2  Length &amp; Whitespace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Measuring and cleaning strings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82880" y="10972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📏  String Length — len()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82880" y="14630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len() function counts every character — letters, spaces, and symbols.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82879" y="1920239"/>
            <a:ext cx="4192051" cy="1142999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92608" y="1993392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29768" y="1993392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66928" y="1993392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82880" y="30632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🧹  Whitespace Removal — strip()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82880" y="34290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Removes invisible characters (spaces, tabs \t, newlines \n) from start &amp; end.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82880" y="3840479"/>
            <a:ext cx="5888736" cy="852969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292608" y="3913632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29768" y="3913632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66928" y="3913632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572000" y="10972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Visual: Each character has an index position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0" y="1463040"/>
            <a:ext cx="365760" cy="411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572000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0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965192" y="1463040"/>
            <a:ext cx="365760" cy="411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965192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965192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358384" y="1463040"/>
            <a:ext cx="365760" cy="411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358384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358384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751576" y="1463040"/>
            <a:ext cx="365760" cy="411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751576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751576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144768" y="1463040"/>
            <a:ext cx="365760" cy="411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144768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144768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537960" y="1463040"/>
            <a:ext cx="365760" cy="411480"/>
          </a:xfrm>
          <a:prstGeom prst="rect">
            <a:avLst/>
          </a:prstGeom>
          <a:solidFill>
            <a:srgbClr val="334155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537960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⎵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537960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931152" y="1463040"/>
            <a:ext cx="365760" cy="411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931152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931152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324344" y="1463040"/>
            <a:ext cx="365760" cy="411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7324344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324344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717536" y="1463040"/>
            <a:ext cx="365760" cy="411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717536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717536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110728" y="1463040"/>
            <a:ext cx="365760" cy="411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8110728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110728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503920" y="1463040"/>
            <a:ext cx="365760" cy="41148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8503920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503920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0" y="21488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Index →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400800" y="2498889"/>
            <a:ext cx="2359152" cy="242316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400800" y="2498889"/>
            <a:ext cx="2301766" cy="45719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537960" y="2590329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🧹 How strip() works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537960" y="2956089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Before: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680960" y="2956089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onsolas"/>
              <a:buNone/>
            </a:pPr>
            <a:r>
              <a:rPr lang="en-US" sz="1100" b="1" i="0" u="none" strike="noStrike" cap="none" dirty="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  Python  "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537960" y="3413289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strip():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680960" y="3413289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"Python"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537960" y="3870489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lstrip():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680960" y="3870489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"Python  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537960" y="4327689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rstrip():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680960" y="4327689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"  Python"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15F0FA0-653C-4F2E-A729-995B2087C90D}"/>
              </a:ext>
            </a:extLst>
          </p:cNvPr>
          <p:cNvSpPr txBox="1"/>
          <p:nvPr/>
        </p:nvSpPr>
        <p:spPr>
          <a:xfrm>
            <a:off x="182880" y="2137228"/>
            <a:ext cx="4587764" cy="893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 World"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  </a:t>
            </a:r>
          </a:p>
          <a:p>
            <a:pPr>
              <a:lnSpc>
                <a:spcPct val="150000"/>
              </a:lnSpc>
            </a:pP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11 (H-e-l-l-o-space-W-o-r-l-d = 11 characters)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C62F0ED-B067-40B0-9556-495DE227CB4B}"/>
              </a:ext>
            </a:extLst>
          </p:cNvPr>
          <p:cNvSpPr txBox="1"/>
          <p:nvPr/>
        </p:nvSpPr>
        <p:spPr>
          <a:xfrm>
            <a:off x="192023" y="3983653"/>
            <a:ext cx="5822521" cy="66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\n\n\n</a:t>
            </a:r>
            <a:r>
              <a:rPr lang="en-US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Hello World </a:t>
            </a:r>
            <a:r>
              <a:rPr lang="en-US" sz="13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\t</a:t>
            </a:r>
            <a:r>
              <a:rPr lang="en-US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\n = new line, \t = tab</a:t>
            </a:r>
            <a:endParaRPr lang="en-US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n-US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strip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     </a:t>
            </a:r>
            <a:r>
              <a:rPr lang="en-US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'Hello World' - Cleaned up</a:t>
            </a:r>
            <a:endParaRPr lang="en-US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7.1.3 Replace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82880" y="109728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🔁  String Replacement — .replace()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82880" y="144475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Finds ALL occurrences of a word and replaces them with another.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82880" y="1760220"/>
            <a:ext cx="7298172" cy="1349702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292608" y="1883664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29768" y="1883664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66928" y="1883664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2779461" y="3290851"/>
            <a:ext cx="3063240" cy="1528064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2779461" y="3245130"/>
            <a:ext cx="3063240" cy="45721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2971485" y="3562806"/>
            <a:ext cx="2010103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replace() — Before &amp; After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971485" y="3928566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Before: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114485" y="3928566"/>
            <a:ext cx="148132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onsolas"/>
              <a:buNone/>
            </a:pPr>
            <a:r>
              <a:rPr lang="en-US" sz="1200" b="1" i="0" u="none" strike="noStrike" cap="none" dirty="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"Hello World"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971485" y="4431486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After: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114485" y="443148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onsolas"/>
              <a:buNone/>
            </a:pPr>
            <a:r>
              <a:rPr lang="en-US" sz="1200" b="1" i="0" u="none" strike="noStrike" cap="none" dirty="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"Hello Python"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DAE0CC-F2F4-412D-B3F2-F35AF64A8EED}"/>
              </a:ext>
            </a:extLst>
          </p:cNvPr>
          <p:cNvSpPr txBox="1"/>
          <p:nvPr/>
        </p:nvSpPr>
        <p:spPr>
          <a:xfrm>
            <a:off x="137160" y="1895428"/>
            <a:ext cx="7848074" cy="1170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 World"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new_text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"Python"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2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Find "World" and replace with "Python"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new_text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  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Hello Python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      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Still "Hello World"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7.1.4  Formatting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24183" y="926829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✨  f-Strings (String Formatting)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24183" y="1176845"/>
            <a:ext cx="4297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Put an f before quotes, then use {} to insert variables — neat and readable!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24178" y="1566450"/>
            <a:ext cx="5048906" cy="10053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33906" y="1646874"/>
            <a:ext cx="91500" cy="100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71066" y="1646874"/>
            <a:ext cx="91500" cy="100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08226" y="1646874"/>
            <a:ext cx="91500" cy="100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219626" y="2817268"/>
            <a:ext cx="3968496" cy="10053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3219626" y="2817268"/>
            <a:ext cx="3957143" cy="4572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356786" y="290870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f-String Magic ✨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356786" y="327446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onsolas"/>
              <a:buNone/>
            </a:pPr>
            <a:r>
              <a:rPr lang="en-US" sz="1300" b="0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# Output: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onsolas"/>
              <a:buNone/>
            </a:pPr>
            <a:r>
              <a:rPr lang="en-US" sz="1300" dirty="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300" b="0" i="0" u="none" strike="noStrike" cap="none" dirty="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My name is Alice and I am 25 years old.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3683DD-6038-49DC-A36D-5249A3B2AD5D}"/>
              </a:ext>
            </a:extLst>
          </p:cNvPr>
          <p:cNvSpPr txBox="1"/>
          <p:nvPr/>
        </p:nvSpPr>
        <p:spPr>
          <a:xfrm>
            <a:off x="182880" y="1771279"/>
            <a:ext cx="504890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"Alice"</a:t>
            </a:r>
            <a:endParaRPr lang="en-US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endParaRPr lang="en-US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3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"My</a:t>
            </a:r>
            <a:r>
              <a:rPr lang="en-US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name is </a:t>
            </a:r>
            <a:r>
              <a:rPr lang="en-US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and I am </a:t>
            </a:r>
            <a:r>
              <a:rPr lang="en-US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years old."</a:t>
            </a:r>
            <a:r>
              <a:rPr lang="en-US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3551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7.1.5 Concatenation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82880" y="606576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➕  Concatenation — Joining Strings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82880" y="972336"/>
            <a:ext cx="4133088" cy="1204464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292608" y="1045488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29768" y="1045488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66928" y="1045488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663442" y="730335"/>
            <a:ext cx="4297680" cy="1608871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663442" y="730335"/>
            <a:ext cx="4297680" cy="45719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800602" y="821775"/>
            <a:ext cx="4023360" cy="244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🔗 How Concatenation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800602" y="1205823"/>
            <a:ext cx="4023360" cy="31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"John"  +  " "  +  "Doe"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800602" y="1644735"/>
            <a:ext cx="4023360" cy="209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800602" y="1919055"/>
            <a:ext cx="4023360" cy="314779"/>
          </a:xfrm>
          <a:prstGeom prst="rect">
            <a:avLst/>
          </a:prstGeom>
          <a:solidFill>
            <a:srgbClr val="1E40AF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800602" y="1919055"/>
            <a:ext cx="4023360" cy="31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"John Doe"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C49B86-1B6A-4F41-B2BC-30CC06970F0F}"/>
              </a:ext>
            </a:extLst>
          </p:cNvPr>
          <p:cNvSpPr txBox="1"/>
          <p:nvPr/>
        </p:nvSpPr>
        <p:spPr>
          <a:xfrm>
            <a:off x="182880" y="1222693"/>
            <a:ext cx="41920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first_name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"John"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last_name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"Doe"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full_name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first_name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last_name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full_name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               </a:t>
            </a:r>
          </a:p>
        </p:txBody>
      </p:sp>
      <p:sp>
        <p:nvSpPr>
          <p:cNvPr id="32" name="Google Shape;161;p7">
            <a:extLst>
              <a:ext uri="{FF2B5EF4-FFF2-40B4-BE49-F238E27FC236}">
                <a16:creationId xmlns:a16="http://schemas.microsoft.com/office/drawing/2014/main" id="{4B4C5359-470C-4E3A-BAB5-87644E69869B}"/>
              </a:ext>
            </a:extLst>
          </p:cNvPr>
          <p:cNvSpPr/>
          <p:nvPr/>
        </p:nvSpPr>
        <p:spPr>
          <a:xfrm>
            <a:off x="402969" y="2456884"/>
            <a:ext cx="1620063" cy="996576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62;p7">
            <a:extLst>
              <a:ext uri="{FF2B5EF4-FFF2-40B4-BE49-F238E27FC236}">
                <a16:creationId xmlns:a16="http://schemas.microsoft.com/office/drawing/2014/main" id="{0B3CEC22-AACC-4D05-B2E1-5FFC206BC144}"/>
              </a:ext>
            </a:extLst>
          </p:cNvPr>
          <p:cNvSpPr/>
          <p:nvPr/>
        </p:nvSpPr>
        <p:spPr>
          <a:xfrm>
            <a:off x="494407" y="2584002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63;p7">
            <a:extLst>
              <a:ext uri="{FF2B5EF4-FFF2-40B4-BE49-F238E27FC236}">
                <a16:creationId xmlns:a16="http://schemas.microsoft.com/office/drawing/2014/main" id="{DFE518D5-9EB9-47D2-93BF-CA402ED12C03}"/>
              </a:ext>
            </a:extLst>
          </p:cNvPr>
          <p:cNvSpPr/>
          <p:nvPr/>
        </p:nvSpPr>
        <p:spPr>
          <a:xfrm>
            <a:off x="631567" y="2584002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164;p7">
            <a:extLst>
              <a:ext uri="{FF2B5EF4-FFF2-40B4-BE49-F238E27FC236}">
                <a16:creationId xmlns:a16="http://schemas.microsoft.com/office/drawing/2014/main" id="{FEE4F37A-BA35-43F1-869A-305AF08D83A1}"/>
              </a:ext>
            </a:extLst>
          </p:cNvPr>
          <p:cNvSpPr/>
          <p:nvPr/>
        </p:nvSpPr>
        <p:spPr>
          <a:xfrm>
            <a:off x="768727" y="2584002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172;p7">
            <a:extLst>
              <a:ext uri="{FF2B5EF4-FFF2-40B4-BE49-F238E27FC236}">
                <a16:creationId xmlns:a16="http://schemas.microsoft.com/office/drawing/2014/main" id="{3EBDEE85-B29E-4AC4-938A-DB9D6227D9B4}"/>
              </a:ext>
            </a:extLst>
          </p:cNvPr>
          <p:cNvSpPr/>
          <p:nvPr/>
        </p:nvSpPr>
        <p:spPr>
          <a:xfrm>
            <a:off x="2465727" y="2541070"/>
            <a:ext cx="6468596" cy="90054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highlight>
                <a:srgbClr val="FF0000"/>
              </a:highlight>
            </a:endParaRPr>
          </a:p>
        </p:txBody>
      </p:sp>
      <p:sp>
        <p:nvSpPr>
          <p:cNvPr id="39" name="Google Shape;175;p7">
            <a:extLst>
              <a:ext uri="{FF2B5EF4-FFF2-40B4-BE49-F238E27FC236}">
                <a16:creationId xmlns:a16="http://schemas.microsoft.com/office/drawing/2014/main" id="{AAFD1B31-D25D-43D1-B7AE-B068A9FEF0E4}"/>
              </a:ext>
            </a:extLst>
          </p:cNvPr>
          <p:cNvSpPr/>
          <p:nvPr/>
        </p:nvSpPr>
        <p:spPr>
          <a:xfrm>
            <a:off x="2599734" y="2541069"/>
            <a:ext cx="6380307" cy="4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This would cause an error because you can't directly join text and numbers</a:t>
            </a:r>
          </a:p>
        </p:txBody>
      </p:sp>
      <p:sp>
        <p:nvSpPr>
          <p:cNvPr id="42" name="Google Shape;178;p7">
            <a:extLst>
              <a:ext uri="{FF2B5EF4-FFF2-40B4-BE49-F238E27FC236}">
                <a16:creationId xmlns:a16="http://schemas.microsoft.com/office/drawing/2014/main" id="{CB3DBAEE-51E3-4D86-901A-9E464956F975}"/>
              </a:ext>
            </a:extLst>
          </p:cNvPr>
          <p:cNvSpPr/>
          <p:nvPr/>
        </p:nvSpPr>
        <p:spPr>
          <a:xfrm>
            <a:off x="2599734" y="2995068"/>
            <a:ext cx="6380307" cy="4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TypeError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can only concatenate str (not "int") to str</a:t>
            </a:r>
            <a:endParaRPr lang="en-US"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95D53A-CA9A-4EF6-B4F6-8DA66879DFE3}"/>
              </a:ext>
            </a:extLst>
          </p:cNvPr>
          <p:cNvSpPr txBox="1"/>
          <p:nvPr/>
        </p:nvSpPr>
        <p:spPr>
          <a:xfrm>
            <a:off x="414637" y="2686672"/>
            <a:ext cx="1608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"Age: 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</a:t>
            </a:r>
          </a:p>
        </p:txBody>
      </p:sp>
      <p:sp>
        <p:nvSpPr>
          <p:cNvPr id="46" name="Google Shape;161;p7">
            <a:extLst>
              <a:ext uri="{FF2B5EF4-FFF2-40B4-BE49-F238E27FC236}">
                <a16:creationId xmlns:a16="http://schemas.microsoft.com/office/drawing/2014/main" id="{EB4D39F6-0872-4819-BF6D-439A4726B97D}"/>
              </a:ext>
            </a:extLst>
          </p:cNvPr>
          <p:cNvSpPr/>
          <p:nvPr/>
        </p:nvSpPr>
        <p:spPr>
          <a:xfrm>
            <a:off x="414637" y="3743717"/>
            <a:ext cx="1831949" cy="996576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62;p7">
            <a:extLst>
              <a:ext uri="{FF2B5EF4-FFF2-40B4-BE49-F238E27FC236}">
                <a16:creationId xmlns:a16="http://schemas.microsoft.com/office/drawing/2014/main" id="{8B458A1E-1D77-4FBA-8B8D-D0D60997F635}"/>
              </a:ext>
            </a:extLst>
          </p:cNvPr>
          <p:cNvSpPr/>
          <p:nvPr/>
        </p:nvSpPr>
        <p:spPr>
          <a:xfrm>
            <a:off x="506075" y="3870835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63;p7">
            <a:extLst>
              <a:ext uri="{FF2B5EF4-FFF2-40B4-BE49-F238E27FC236}">
                <a16:creationId xmlns:a16="http://schemas.microsoft.com/office/drawing/2014/main" id="{CF285C6F-0E27-4C5A-A683-9E062601F06C}"/>
              </a:ext>
            </a:extLst>
          </p:cNvPr>
          <p:cNvSpPr/>
          <p:nvPr/>
        </p:nvSpPr>
        <p:spPr>
          <a:xfrm>
            <a:off x="643235" y="3870835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164;p7">
            <a:extLst>
              <a:ext uri="{FF2B5EF4-FFF2-40B4-BE49-F238E27FC236}">
                <a16:creationId xmlns:a16="http://schemas.microsoft.com/office/drawing/2014/main" id="{DD0E3B77-BAEE-4B7C-B2C2-94F9C8AC1A96}"/>
              </a:ext>
            </a:extLst>
          </p:cNvPr>
          <p:cNvSpPr/>
          <p:nvPr/>
        </p:nvSpPr>
        <p:spPr>
          <a:xfrm>
            <a:off x="780395" y="3870835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172;p7">
            <a:extLst>
              <a:ext uri="{FF2B5EF4-FFF2-40B4-BE49-F238E27FC236}">
                <a16:creationId xmlns:a16="http://schemas.microsoft.com/office/drawing/2014/main" id="{01D8CD38-1DDE-4C01-B771-9505754FCDD3}"/>
              </a:ext>
            </a:extLst>
          </p:cNvPr>
          <p:cNvSpPr/>
          <p:nvPr/>
        </p:nvSpPr>
        <p:spPr>
          <a:xfrm>
            <a:off x="2401084" y="4008610"/>
            <a:ext cx="6468596" cy="493822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highlight>
                <a:srgbClr val="FF0000"/>
              </a:highlight>
            </a:endParaRPr>
          </a:p>
        </p:txBody>
      </p:sp>
      <p:sp>
        <p:nvSpPr>
          <p:cNvPr id="51" name="Google Shape;175;p7">
            <a:extLst>
              <a:ext uri="{FF2B5EF4-FFF2-40B4-BE49-F238E27FC236}">
                <a16:creationId xmlns:a16="http://schemas.microsoft.com/office/drawing/2014/main" id="{4AA19EE7-E31C-429A-BFF2-DBF603023A83}"/>
              </a:ext>
            </a:extLst>
          </p:cNvPr>
          <p:cNvSpPr/>
          <p:nvPr/>
        </p:nvSpPr>
        <p:spPr>
          <a:xfrm>
            <a:off x="2763693" y="4048433"/>
            <a:ext cx="6380307" cy="4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Age: 30 - n is first converted into string, 30 becomes '30',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# then it is concatenated.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2FDA76-2BF9-4945-9B39-0EE61B1B9401}"/>
              </a:ext>
            </a:extLst>
          </p:cNvPr>
          <p:cNvSpPr txBox="1"/>
          <p:nvPr/>
        </p:nvSpPr>
        <p:spPr>
          <a:xfrm>
            <a:off x="394925" y="3962275"/>
            <a:ext cx="20708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"Age: 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7.1.6  Repetition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01775" y="833831"/>
            <a:ext cx="4297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✖️  Repetition — Repeat with    *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74320" y="1161136"/>
            <a:ext cx="4297800" cy="10398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84053" y="1234289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21213" y="1234289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58373" y="1234289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754885" y="1271538"/>
            <a:ext cx="4297680" cy="807359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754885" y="1271538"/>
            <a:ext cx="4297680" cy="45720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892045" y="136297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892045" y="172873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onsolas"/>
              <a:buNone/>
            </a:pPr>
            <a:r>
              <a:rPr lang="en-US" b="0" i="0" u="none" strike="noStrike" cap="none" dirty="0" err="1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HiHiHi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79;p7">
            <a:extLst>
              <a:ext uri="{FF2B5EF4-FFF2-40B4-BE49-F238E27FC236}">
                <a16:creationId xmlns:a16="http://schemas.microsoft.com/office/drawing/2014/main" id="{23BBB1B8-9D66-4F48-84E3-3938E81E2A73}"/>
              </a:ext>
            </a:extLst>
          </p:cNvPr>
          <p:cNvSpPr/>
          <p:nvPr/>
        </p:nvSpPr>
        <p:spPr>
          <a:xfrm>
            <a:off x="4754885" y="2670153"/>
            <a:ext cx="4297680" cy="932268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180;p7">
            <a:extLst>
              <a:ext uri="{FF2B5EF4-FFF2-40B4-BE49-F238E27FC236}">
                <a16:creationId xmlns:a16="http://schemas.microsoft.com/office/drawing/2014/main" id="{128814B5-54CC-4206-A7D4-9866A8844C2E}"/>
              </a:ext>
            </a:extLst>
          </p:cNvPr>
          <p:cNvSpPr/>
          <p:nvPr/>
        </p:nvSpPr>
        <p:spPr>
          <a:xfrm>
            <a:off x="4754885" y="2670153"/>
            <a:ext cx="4297680" cy="45720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181;p7">
            <a:extLst>
              <a:ext uri="{FF2B5EF4-FFF2-40B4-BE49-F238E27FC236}">
                <a16:creationId xmlns:a16="http://schemas.microsoft.com/office/drawing/2014/main" id="{65A857F2-ECF9-407D-8736-6E015B53232E}"/>
              </a:ext>
            </a:extLst>
          </p:cNvPr>
          <p:cNvSpPr/>
          <p:nvPr/>
        </p:nvSpPr>
        <p:spPr>
          <a:xfrm>
            <a:off x="4892045" y="2761593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183;p7">
            <a:extLst>
              <a:ext uri="{FF2B5EF4-FFF2-40B4-BE49-F238E27FC236}">
                <a16:creationId xmlns:a16="http://schemas.microsoft.com/office/drawing/2014/main" id="{10C24D69-79BC-4A9B-BA37-59F59B08D563}"/>
              </a:ext>
            </a:extLst>
          </p:cNvPr>
          <p:cNvSpPr/>
          <p:nvPr/>
        </p:nvSpPr>
        <p:spPr>
          <a:xfrm>
            <a:off x="4892045" y="322404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nsolas"/>
              <a:buNone/>
            </a:pPr>
            <a:r>
              <a:rPr lang="en-US" b="0" i="0" u="none" strike="noStrike" cap="none" dirty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--------------------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167;p7">
            <a:extLst>
              <a:ext uri="{FF2B5EF4-FFF2-40B4-BE49-F238E27FC236}">
                <a16:creationId xmlns:a16="http://schemas.microsoft.com/office/drawing/2014/main" id="{B8C3F9CB-DCEB-410C-92A6-8C6C16BA4A49}"/>
              </a:ext>
            </a:extLst>
          </p:cNvPr>
          <p:cNvSpPr/>
          <p:nvPr/>
        </p:nvSpPr>
        <p:spPr>
          <a:xfrm>
            <a:off x="244361" y="2626741"/>
            <a:ext cx="4297800" cy="10398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separator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separator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</a:t>
            </a:r>
          </a:p>
        </p:txBody>
      </p:sp>
      <p:sp>
        <p:nvSpPr>
          <p:cNvPr id="38" name="Google Shape;168;p7">
            <a:extLst>
              <a:ext uri="{FF2B5EF4-FFF2-40B4-BE49-F238E27FC236}">
                <a16:creationId xmlns:a16="http://schemas.microsoft.com/office/drawing/2014/main" id="{6B9ADADC-CD1B-4B15-BF8C-57C575D13B9D}"/>
              </a:ext>
            </a:extLst>
          </p:cNvPr>
          <p:cNvSpPr/>
          <p:nvPr/>
        </p:nvSpPr>
        <p:spPr>
          <a:xfrm>
            <a:off x="338328" y="2699894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69;p7">
            <a:extLst>
              <a:ext uri="{FF2B5EF4-FFF2-40B4-BE49-F238E27FC236}">
                <a16:creationId xmlns:a16="http://schemas.microsoft.com/office/drawing/2014/main" id="{A883B607-DAA6-489B-97ED-0CAD5CB09F06}"/>
              </a:ext>
            </a:extLst>
          </p:cNvPr>
          <p:cNvSpPr/>
          <p:nvPr/>
        </p:nvSpPr>
        <p:spPr>
          <a:xfrm>
            <a:off x="475488" y="2699894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70;p7">
            <a:extLst>
              <a:ext uri="{FF2B5EF4-FFF2-40B4-BE49-F238E27FC236}">
                <a16:creationId xmlns:a16="http://schemas.microsoft.com/office/drawing/2014/main" id="{4E6A6EB4-441E-446A-A13A-5F0E8B7D34CC}"/>
              </a:ext>
            </a:extLst>
          </p:cNvPr>
          <p:cNvSpPr/>
          <p:nvPr/>
        </p:nvSpPr>
        <p:spPr>
          <a:xfrm>
            <a:off x="612648" y="2699894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1F4236-9B41-49E7-8235-F033A90BD4D5}"/>
              </a:ext>
            </a:extLst>
          </p:cNvPr>
          <p:cNvSpPr txBox="1"/>
          <p:nvPr/>
        </p:nvSpPr>
        <p:spPr>
          <a:xfrm>
            <a:off x="338328" y="1398301"/>
            <a:ext cx="36818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"Hi"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</a:t>
            </a: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238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182877" y="182875"/>
            <a:ext cx="4762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7.1.7 &amp; 7.1.9  Indexing &amp; Slicing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269535" y="1085736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269535" y="1324475"/>
            <a:ext cx="795900" cy="517200"/>
          </a:xfrm>
          <a:prstGeom prst="rect">
            <a:avLst/>
          </a:prstGeom>
          <a:solidFill>
            <a:srgbClr val="1E40AF"/>
          </a:solidFill>
          <a:ln w="221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575" tIns="79575" rIns="79575" bIns="79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2269535" y="1324475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lang="en-US" sz="2263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endParaRPr sz="226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269535" y="1865617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-6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264274" y="1085736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264274" y="1324475"/>
            <a:ext cx="795900" cy="517200"/>
          </a:xfrm>
          <a:prstGeom prst="rect">
            <a:avLst/>
          </a:prstGeom>
          <a:solidFill>
            <a:srgbClr val="1E40AF"/>
          </a:solidFill>
          <a:ln w="221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575" tIns="79575" rIns="79575" bIns="79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3264274" y="1324475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lang="en-US" sz="2263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226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264274" y="1865617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-5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259013" y="1085736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259013" y="1324475"/>
            <a:ext cx="795900" cy="517200"/>
          </a:xfrm>
          <a:prstGeom prst="rect">
            <a:avLst/>
          </a:prstGeom>
          <a:solidFill>
            <a:srgbClr val="1E40AF"/>
          </a:solidFill>
          <a:ln w="221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575" tIns="79575" rIns="79575" bIns="79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259013" y="1324475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lang="en-US" sz="2263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sz="226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259013" y="1865617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-4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253753" y="1065916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253753" y="1351421"/>
            <a:ext cx="795900" cy="517200"/>
          </a:xfrm>
          <a:prstGeom prst="rect">
            <a:avLst/>
          </a:prstGeom>
          <a:solidFill>
            <a:srgbClr val="1E40AF"/>
          </a:solidFill>
          <a:ln w="221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575" tIns="79575" rIns="79575" bIns="79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18"/>
          </a:p>
        </p:txBody>
      </p:sp>
      <p:sp>
        <p:nvSpPr>
          <p:cNvPr id="208" name="Google Shape;208;p8"/>
          <p:cNvSpPr/>
          <p:nvPr/>
        </p:nvSpPr>
        <p:spPr>
          <a:xfrm>
            <a:off x="5253753" y="1337557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lang="en-US" sz="2263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226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248492" y="1096089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248492" y="1360888"/>
            <a:ext cx="795900" cy="517200"/>
          </a:xfrm>
          <a:prstGeom prst="rect">
            <a:avLst/>
          </a:prstGeom>
          <a:solidFill>
            <a:srgbClr val="1E40AF"/>
          </a:solidFill>
          <a:ln w="221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575" tIns="79575" rIns="79575" bIns="79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18"/>
          </a:p>
        </p:txBody>
      </p:sp>
      <p:sp>
        <p:nvSpPr>
          <p:cNvPr id="212" name="Google Shape;212;p8"/>
          <p:cNvSpPr/>
          <p:nvPr/>
        </p:nvSpPr>
        <p:spPr>
          <a:xfrm>
            <a:off x="6248492" y="1339356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lang="en-US" sz="2263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sz="226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7243231" y="1116795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243231" y="1360888"/>
            <a:ext cx="795900" cy="517200"/>
          </a:xfrm>
          <a:prstGeom prst="rect">
            <a:avLst/>
          </a:prstGeom>
          <a:solidFill>
            <a:srgbClr val="1E40AF"/>
          </a:solidFill>
          <a:ln w="221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575" tIns="79575" rIns="79575" bIns="79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18"/>
          </a:p>
        </p:txBody>
      </p:sp>
      <p:sp>
        <p:nvSpPr>
          <p:cNvPr id="216" name="Google Shape;216;p8"/>
          <p:cNvSpPr/>
          <p:nvPr/>
        </p:nvSpPr>
        <p:spPr>
          <a:xfrm>
            <a:off x="7243231" y="1360888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lang="en-US" sz="2263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6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473744" y="1324475"/>
            <a:ext cx="756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3"/>
              <a:buFont typeface="Calibri"/>
              <a:buNone/>
            </a:pPr>
            <a:r>
              <a:rPr lang="en-US" sz="783" b="0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Forward →</a:t>
            </a:r>
            <a:endParaRPr sz="7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473744" y="1865617"/>
            <a:ext cx="7560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783"/>
              <a:buFont typeface="Calibri"/>
              <a:buNone/>
            </a:pPr>
            <a:r>
              <a:rPr lang="en-US" sz="783" b="0" i="0" u="none" strike="noStrike" cap="non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← Backward</a:t>
            </a:r>
            <a:endParaRPr sz="7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2636370" y="2481378"/>
            <a:ext cx="2756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✂️  Slicing — text[start:end]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931460" y="2698999"/>
            <a:ext cx="3670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Start is included, end is NOT ("up to but not including")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2944500" y="3156559"/>
            <a:ext cx="3255000" cy="1206900"/>
          </a:xfrm>
          <a:prstGeom prst="rect">
            <a:avLst/>
          </a:prstGeom>
          <a:solidFill>
            <a:srgbClr val="1E293B"/>
          </a:solidFill>
          <a:ln w="188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56509" dist="18836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67800" tIns="67800" rIns="67800" bIns="6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2944500" y="3156559"/>
            <a:ext cx="3255000" cy="33900"/>
          </a:xfrm>
          <a:prstGeom prst="rect">
            <a:avLst/>
          </a:prstGeom>
          <a:solidFill>
            <a:srgbClr val="F59E0B"/>
          </a:solidFill>
          <a:ln w="94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800" tIns="67800" rIns="67800" bIns="6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3046216" y="3224369"/>
            <a:ext cx="30516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90"/>
              <a:buFont typeface="Calibri"/>
              <a:buNone/>
            </a:pPr>
            <a:r>
              <a:rPr lang="en-US" sz="89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text[0:3] = ?</a:t>
            </a:r>
            <a:endParaRPr sz="8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046216" y="3495611"/>
            <a:ext cx="440700" cy="305100"/>
          </a:xfrm>
          <a:prstGeom prst="rect">
            <a:avLst/>
          </a:prstGeom>
          <a:solidFill>
            <a:srgbClr val="1E40AF"/>
          </a:solidFill>
          <a:ln w="188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800" tIns="67800" rIns="67800" bIns="6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3046216" y="3495611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7"/>
              <a:buFont typeface="Consolas"/>
              <a:buNone/>
            </a:pPr>
            <a:r>
              <a:rPr lang="en-US" sz="1187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endParaRPr sz="11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541235" y="3495611"/>
            <a:ext cx="440700" cy="305100"/>
          </a:xfrm>
          <a:prstGeom prst="rect">
            <a:avLst/>
          </a:prstGeom>
          <a:solidFill>
            <a:srgbClr val="1E40AF"/>
          </a:solidFill>
          <a:ln w="188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800" tIns="67800" rIns="67800" bIns="6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3541235" y="3495611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7"/>
              <a:buFont typeface="Consolas"/>
              <a:buNone/>
            </a:pPr>
            <a:r>
              <a:rPr lang="en-US" sz="1187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1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036253" y="3495611"/>
            <a:ext cx="440700" cy="305100"/>
          </a:xfrm>
          <a:prstGeom prst="rect">
            <a:avLst/>
          </a:prstGeom>
          <a:solidFill>
            <a:srgbClr val="1E40AF"/>
          </a:solidFill>
          <a:ln w="188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800" tIns="67800" rIns="67800" bIns="6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036253" y="3495611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7"/>
              <a:buFont typeface="Consolas"/>
              <a:buNone/>
            </a:pPr>
            <a:r>
              <a:rPr lang="en-US" sz="1187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sz="11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531272" y="3495611"/>
            <a:ext cx="440700" cy="305100"/>
          </a:xfrm>
          <a:prstGeom prst="rect">
            <a:avLst/>
          </a:prstGeom>
          <a:solidFill>
            <a:srgbClr val="1E293B"/>
          </a:solidFill>
          <a:ln w="94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800" tIns="67800" rIns="67800" bIns="6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4531272" y="3495611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87"/>
              <a:buFont typeface="Consolas"/>
              <a:buNone/>
            </a:pPr>
            <a:r>
              <a:rPr lang="en-US" sz="1187" b="1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11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026290" y="3495611"/>
            <a:ext cx="440700" cy="305100"/>
          </a:xfrm>
          <a:prstGeom prst="rect">
            <a:avLst/>
          </a:prstGeom>
          <a:solidFill>
            <a:srgbClr val="1E293B"/>
          </a:solidFill>
          <a:ln w="94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800" tIns="67800" rIns="67800" bIns="6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026290" y="3495611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87"/>
              <a:buFont typeface="Consolas"/>
              <a:buNone/>
            </a:pPr>
            <a:r>
              <a:rPr lang="en-US" sz="1187" b="1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sz="11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521309" y="3495611"/>
            <a:ext cx="440700" cy="305100"/>
          </a:xfrm>
          <a:prstGeom prst="rect">
            <a:avLst/>
          </a:prstGeom>
          <a:solidFill>
            <a:srgbClr val="1E293B"/>
          </a:solidFill>
          <a:ln w="94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800" tIns="67800" rIns="67800" bIns="6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5521309" y="3495611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87"/>
              <a:buFont typeface="Consolas"/>
              <a:buNone/>
            </a:pPr>
            <a:r>
              <a:rPr lang="en-US" sz="1187" b="1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11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046216" y="3868568"/>
            <a:ext cx="3051600" cy="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64"/>
              <a:buFont typeface="Consolas"/>
              <a:buNone/>
            </a:pPr>
            <a:r>
              <a:rPr lang="en-US" sz="964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Result: "Pyt"</a:t>
            </a:r>
            <a:endParaRPr sz="9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247771" y="1891806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957" b="1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7243246" y="1865606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957" b="1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236521" y="1898881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lang="en-US" sz="957" b="1" i="0" u="none" strike="noStrike" cap="non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957" b="1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95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74200" y="751628"/>
            <a:ext cx="4297800" cy="1820122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83933" y="824781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21093" y="824781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58253" y="824781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754765" y="751628"/>
            <a:ext cx="4297680" cy="1700262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P           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(first character)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h 		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(fourth character)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n 		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(last character)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h 		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(third from the end)</a:t>
            </a:r>
          </a:p>
        </p:txBody>
      </p:sp>
      <p:sp>
        <p:nvSpPr>
          <p:cNvPr id="181" name="Google Shape;181;p7"/>
          <p:cNvSpPr/>
          <p:nvPr/>
        </p:nvSpPr>
        <p:spPr>
          <a:xfrm>
            <a:off x="4891925" y="95347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91;p8">
            <a:extLst>
              <a:ext uri="{FF2B5EF4-FFF2-40B4-BE49-F238E27FC236}">
                <a16:creationId xmlns:a16="http://schemas.microsoft.com/office/drawing/2014/main" id="{52B7A12F-0003-4D9D-8586-645E2DC992C0}"/>
              </a:ext>
            </a:extLst>
          </p:cNvPr>
          <p:cNvSpPr/>
          <p:nvPr/>
        </p:nvSpPr>
        <p:spPr>
          <a:xfrm>
            <a:off x="182877" y="182875"/>
            <a:ext cx="4762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7.1.7 &amp; 7.1.9  Indexing &amp; Slicing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B0E92F-E601-47C1-9DE9-584DDA45AA71}"/>
              </a:ext>
            </a:extLst>
          </p:cNvPr>
          <p:cNvSpPr txBox="1"/>
          <p:nvPr/>
        </p:nvSpPr>
        <p:spPr>
          <a:xfrm>
            <a:off x="304161" y="953470"/>
            <a:ext cx="45877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"Python"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    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P (first character)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    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h (fourth character)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   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n (last character)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   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h (third from the end)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Google Shape;167;p7">
            <a:extLst>
              <a:ext uri="{FF2B5EF4-FFF2-40B4-BE49-F238E27FC236}">
                <a16:creationId xmlns:a16="http://schemas.microsoft.com/office/drawing/2014/main" id="{84F99EFB-F97B-40E0-BBC1-E9CCCC9787BA}"/>
              </a:ext>
            </a:extLst>
          </p:cNvPr>
          <p:cNvSpPr/>
          <p:nvPr/>
        </p:nvSpPr>
        <p:spPr>
          <a:xfrm>
            <a:off x="274200" y="3063904"/>
            <a:ext cx="2698861" cy="1820122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68;p7">
            <a:extLst>
              <a:ext uri="{FF2B5EF4-FFF2-40B4-BE49-F238E27FC236}">
                <a16:creationId xmlns:a16="http://schemas.microsoft.com/office/drawing/2014/main" id="{00F48798-A14C-4EFC-9616-C1FA0D529251}"/>
              </a:ext>
            </a:extLst>
          </p:cNvPr>
          <p:cNvSpPr/>
          <p:nvPr/>
        </p:nvSpPr>
        <p:spPr>
          <a:xfrm>
            <a:off x="383933" y="3137057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69;p7">
            <a:extLst>
              <a:ext uri="{FF2B5EF4-FFF2-40B4-BE49-F238E27FC236}">
                <a16:creationId xmlns:a16="http://schemas.microsoft.com/office/drawing/2014/main" id="{CB516561-DBEE-4085-9A35-A7FE815D4EF3}"/>
              </a:ext>
            </a:extLst>
          </p:cNvPr>
          <p:cNvSpPr/>
          <p:nvPr/>
        </p:nvSpPr>
        <p:spPr>
          <a:xfrm>
            <a:off x="521093" y="3137057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70;p7">
            <a:extLst>
              <a:ext uri="{FF2B5EF4-FFF2-40B4-BE49-F238E27FC236}">
                <a16:creationId xmlns:a16="http://schemas.microsoft.com/office/drawing/2014/main" id="{B7A61D45-B8E8-4889-A7BF-2430371C523B}"/>
              </a:ext>
            </a:extLst>
          </p:cNvPr>
          <p:cNvSpPr/>
          <p:nvPr/>
        </p:nvSpPr>
        <p:spPr>
          <a:xfrm>
            <a:off x="658253" y="3137057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179;p7">
            <a:extLst>
              <a:ext uri="{FF2B5EF4-FFF2-40B4-BE49-F238E27FC236}">
                <a16:creationId xmlns:a16="http://schemas.microsoft.com/office/drawing/2014/main" id="{72734E9C-63E5-42D7-8B79-66FF0276E973}"/>
              </a:ext>
            </a:extLst>
          </p:cNvPr>
          <p:cNvSpPr/>
          <p:nvPr/>
        </p:nvSpPr>
        <p:spPr>
          <a:xfrm>
            <a:off x="3490492" y="3305906"/>
            <a:ext cx="5133246" cy="117838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Pyt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(positions 0,1,2 - stops before position 3)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thon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(from position 2 to the end)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Pyth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(from the beginning up to position 4)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tho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(using negative indices)</a:t>
            </a:r>
          </a:p>
        </p:txBody>
      </p:sp>
      <p:sp>
        <p:nvSpPr>
          <p:cNvPr id="36" name="Google Shape;181;p7">
            <a:extLst>
              <a:ext uri="{FF2B5EF4-FFF2-40B4-BE49-F238E27FC236}">
                <a16:creationId xmlns:a16="http://schemas.microsoft.com/office/drawing/2014/main" id="{987278F1-C810-4279-8B08-74C95ECB9344}"/>
              </a:ext>
            </a:extLst>
          </p:cNvPr>
          <p:cNvSpPr/>
          <p:nvPr/>
        </p:nvSpPr>
        <p:spPr>
          <a:xfrm>
            <a:off x="3575504" y="3265746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BC37A6-0F47-47AE-89FF-CC3B466B97AA}"/>
              </a:ext>
            </a:extLst>
          </p:cNvPr>
          <p:cNvSpPr txBox="1"/>
          <p:nvPr/>
        </p:nvSpPr>
        <p:spPr>
          <a:xfrm>
            <a:off x="304161" y="3265746"/>
            <a:ext cx="24548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"Python"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  </a:t>
            </a: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:])  </a:t>
            </a: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  </a:t>
            </a: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4199577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53739" y="1217292"/>
            <a:ext cx="4297800" cy="880103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63472" y="1290445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00632" y="1290445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37792" y="1290445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661272" y="1235979"/>
            <a:ext cx="4297680" cy="806997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This will raise -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TypeError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'str' object does not support item assignment</a:t>
            </a:r>
          </a:p>
        </p:txBody>
      </p:sp>
      <p:sp>
        <p:nvSpPr>
          <p:cNvPr id="23" name="Google Shape;191;p8">
            <a:extLst>
              <a:ext uri="{FF2B5EF4-FFF2-40B4-BE49-F238E27FC236}">
                <a16:creationId xmlns:a16="http://schemas.microsoft.com/office/drawing/2014/main" id="{52B7A12F-0003-4D9D-8586-645E2DC992C0}"/>
              </a:ext>
            </a:extLst>
          </p:cNvPr>
          <p:cNvSpPr/>
          <p:nvPr/>
        </p:nvSpPr>
        <p:spPr>
          <a:xfrm>
            <a:off x="182877" y="182875"/>
            <a:ext cx="4762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67;p7">
            <a:extLst>
              <a:ext uri="{FF2B5EF4-FFF2-40B4-BE49-F238E27FC236}">
                <a16:creationId xmlns:a16="http://schemas.microsoft.com/office/drawing/2014/main" id="{84F99EFB-F97B-40E0-BBC1-E9CCCC9787BA}"/>
              </a:ext>
            </a:extLst>
          </p:cNvPr>
          <p:cNvSpPr/>
          <p:nvPr/>
        </p:nvSpPr>
        <p:spPr>
          <a:xfrm>
            <a:off x="249934" y="2766464"/>
            <a:ext cx="2698861" cy="1820122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68;p7">
            <a:extLst>
              <a:ext uri="{FF2B5EF4-FFF2-40B4-BE49-F238E27FC236}">
                <a16:creationId xmlns:a16="http://schemas.microsoft.com/office/drawing/2014/main" id="{00F48798-A14C-4EFC-9616-C1FA0D529251}"/>
              </a:ext>
            </a:extLst>
          </p:cNvPr>
          <p:cNvSpPr/>
          <p:nvPr/>
        </p:nvSpPr>
        <p:spPr>
          <a:xfrm>
            <a:off x="359667" y="2839617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69;p7">
            <a:extLst>
              <a:ext uri="{FF2B5EF4-FFF2-40B4-BE49-F238E27FC236}">
                <a16:creationId xmlns:a16="http://schemas.microsoft.com/office/drawing/2014/main" id="{CB516561-DBEE-4085-9A35-A7FE815D4EF3}"/>
              </a:ext>
            </a:extLst>
          </p:cNvPr>
          <p:cNvSpPr/>
          <p:nvPr/>
        </p:nvSpPr>
        <p:spPr>
          <a:xfrm>
            <a:off x="496827" y="2839617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70;p7">
            <a:extLst>
              <a:ext uri="{FF2B5EF4-FFF2-40B4-BE49-F238E27FC236}">
                <a16:creationId xmlns:a16="http://schemas.microsoft.com/office/drawing/2014/main" id="{B7A61D45-B8E8-4889-A7BF-2430371C523B}"/>
              </a:ext>
            </a:extLst>
          </p:cNvPr>
          <p:cNvSpPr/>
          <p:nvPr/>
        </p:nvSpPr>
        <p:spPr>
          <a:xfrm>
            <a:off x="633987" y="2839617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179;p7">
            <a:extLst>
              <a:ext uri="{FF2B5EF4-FFF2-40B4-BE49-F238E27FC236}">
                <a16:creationId xmlns:a16="http://schemas.microsoft.com/office/drawing/2014/main" id="{72734E9C-63E5-42D7-8B79-66FF0276E973}"/>
              </a:ext>
            </a:extLst>
          </p:cNvPr>
          <p:cNvSpPr/>
          <p:nvPr/>
        </p:nvSpPr>
        <p:spPr>
          <a:xfrm>
            <a:off x="3418930" y="3288346"/>
            <a:ext cx="5133246" cy="887721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Jello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Google Shape;181;p7">
            <a:extLst>
              <a:ext uri="{FF2B5EF4-FFF2-40B4-BE49-F238E27FC236}">
                <a16:creationId xmlns:a16="http://schemas.microsoft.com/office/drawing/2014/main" id="{987278F1-C810-4279-8B08-74C95ECB9344}"/>
              </a:ext>
            </a:extLst>
          </p:cNvPr>
          <p:cNvSpPr/>
          <p:nvPr/>
        </p:nvSpPr>
        <p:spPr>
          <a:xfrm>
            <a:off x="3511825" y="326132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35341F-1FCF-4810-B27F-604FC077633B}"/>
              </a:ext>
            </a:extLst>
          </p:cNvPr>
          <p:cNvSpPr txBox="1"/>
          <p:nvPr/>
        </p:nvSpPr>
        <p:spPr>
          <a:xfrm>
            <a:off x="249934" y="1433097"/>
            <a:ext cx="45877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</a:t>
            </a: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232810-C677-4CC1-A356-64A19E942E57}"/>
              </a:ext>
            </a:extLst>
          </p:cNvPr>
          <p:cNvSpPr txBox="1"/>
          <p:nvPr/>
        </p:nvSpPr>
        <p:spPr>
          <a:xfrm>
            <a:off x="249934" y="3165426"/>
            <a:ext cx="247280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CORRECT WAY</a:t>
            </a:r>
          </a:p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:]</a:t>
            </a: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</a:t>
            </a:r>
          </a:p>
        </p:txBody>
      </p:sp>
      <p:sp>
        <p:nvSpPr>
          <p:cNvPr id="37" name="Google Shape;305;p10">
            <a:extLst>
              <a:ext uri="{FF2B5EF4-FFF2-40B4-BE49-F238E27FC236}">
                <a16:creationId xmlns:a16="http://schemas.microsoft.com/office/drawing/2014/main" id="{76FFDF46-6B04-4BA0-A1DF-4050F3B90E18}"/>
              </a:ext>
            </a:extLst>
          </p:cNvPr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7.1.8  Mutability of Strings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7459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74200" y="751628"/>
            <a:ext cx="4297800" cy="880103"/>
          </a:xfrm>
          <a:prstGeom prst="rect">
            <a:avLst/>
          </a:prstGeom>
          <a:solidFill>
            <a:srgbClr val="0D1117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83933" y="824781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21093" y="824781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58253" y="824781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681733" y="770315"/>
            <a:ext cx="4297680" cy="806997"/>
          </a:xfrm>
          <a:prstGeom prst="rect">
            <a:avLst/>
          </a:prstGeom>
          <a:solidFill>
            <a:srgbClr val="1E293B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Split at spaces (default behavior)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Output: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['Python', 'is', 'easy', 'to', 'learn'] </a:t>
            </a:r>
          </a:p>
        </p:txBody>
      </p:sp>
      <p:sp>
        <p:nvSpPr>
          <p:cNvPr id="23" name="Google Shape;191;p8">
            <a:extLst>
              <a:ext uri="{FF2B5EF4-FFF2-40B4-BE49-F238E27FC236}">
                <a16:creationId xmlns:a16="http://schemas.microsoft.com/office/drawing/2014/main" id="{52B7A12F-0003-4D9D-8586-645E2DC992C0}"/>
              </a:ext>
            </a:extLst>
          </p:cNvPr>
          <p:cNvSpPr/>
          <p:nvPr/>
        </p:nvSpPr>
        <p:spPr>
          <a:xfrm>
            <a:off x="325259" y="182875"/>
            <a:ext cx="4620418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67;p7">
            <a:extLst>
              <a:ext uri="{FF2B5EF4-FFF2-40B4-BE49-F238E27FC236}">
                <a16:creationId xmlns:a16="http://schemas.microsoft.com/office/drawing/2014/main" id="{84F99EFB-F97B-40E0-BBC1-E9CCCC9787BA}"/>
              </a:ext>
            </a:extLst>
          </p:cNvPr>
          <p:cNvSpPr/>
          <p:nvPr/>
        </p:nvSpPr>
        <p:spPr>
          <a:xfrm>
            <a:off x="270395" y="2196801"/>
            <a:ext cx="3718281" cy="1820122"/>
          </a:xfrm>
          <a:prstGeom prst="rect">
            <a:avLst/>
          </a:prstGeom>
          <a:solidFill>
            <a:srgbClr val="0D1117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You can specify what to split on</a:t>
            </a:r>
          </a:p>
          <a:p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csv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apple,banana,cherry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csv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","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          </a:t>
            </a: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                    </a:t>
            </a:r>
          </a:p>
        </p:txBody>
      </p:sp>
      <p:sp>
        <p:nvSpPr>
          <p:cNvPr id="28" name="Google Shape;168;p7">
            <a:extLst>
              <a:ext uri="{FF2B5EF4-FFF2-40B4-BE49-F238E27FC236}">
                <a16:creationId xmlns:a16="http://schemas.microsoft.com/office/drawing/2014/main" id="{00F48798-A14C-4EFC-9616-C1FA0D529251}"/>
              </a:ext>
            </a:extLst>
          </p:cNvPr>
          <p:cNvSpPr/>
          <p:nvPr/>
        </p:nvSpPr>
        <p:spPr>
          <a:xfrm>
            <a:off x="380128" y="2269954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69;p7">
            <a:extLst>
              <a:ext uri="{FF2B5EF4-FFF2-40B4-BE49-F238E27FC236}">
                <a16:creationId xmlns:a16="http://schemas.microsoft.com/office/drawing/2014/main" id="{CB516561-DBEE-4085-9A35-A7FE815D4EF3}"/>
              </a:ext>
            </a:extLst>
          </p:cNvPr>
          <p:cNvSpPr/>
          <p:nvPr/>
        </p:nvSpPr>
        <p:spPr>
          <a:xfrm>
            <a:off x="517288" y="2269954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70;p7">
            <a:extLst>
              <a:ext uri="{FF2B5EF4-FFF2-40B4-BE49-F238E27FC236}">
                <a16:creationId xmlns:a16="http://schemas.microsoft.com/office/drawing/2014/main" id="{B7A61D45-B8E8-4889-A7BF-2430371C523B}"/>
              </a:ext>
            </a:extLst>
          </p:cNvPr>
          <p:cNvSpPr/>
          <p:nvPr/>
        </p:nvSpPr>
        <p:spPr>
          <a:xfrm>
            <a:off x="654448" y="2269954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9F2C37-9E82-47DB-9A4F-30D51CC1A257}"/>
              </a:ext>
            </a:extLst>
          </p:cNvPr>
          <p:cNvSpPr txBox="1"/>
          <p:nvPr/>
        </p:nvSpPr>
        <p:spPr>
          <a:xfrm>
            <a:off x="270395" y="874825"/>
            <a:ext cx="45759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"Python is easy to learn"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 </a:t>
            </a: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            </a:t>
            </a:r>
          </a:p>
        </p:txBody>
      </p:sp>
      <p:sp>
        <p:nvSpPr>
          <p:cNvPr id="20" name="Google Shape;179;p7">
            <a:extLst>
              <a:ext uri="{FF2B5EF4-FFF2-40B4-BE49-F238E27FC236}">
                <a16:creationId xmlns:a16="http://schemas.microsoft.com/office/drawing/2014/main" id="{2239567A-C71A-4E98-AC6D-CBE69111E642}"/>
              </a:ext>
            </a:extLst>
          </p:cNvPr>
          <p:cNvSpPr/>
          <p:nvPr/>
        </p:nvSpPr>
        <p:spPr>
          <a:xfrm>
            <a:off x="4681733" y="2851363"/>
            <a:ext cx="4297680" cy="806997"/>
          </a:xfrm>
          <a:prstGeom prst="rect">
            <a:avLst/>
          </a:prstGeom>
          <a:solidFill>
            <a:srgbClr val="1E293B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Split at each comma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Output: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['apple', 'banana', 'cherry']</a:t>
            </a:r>
          </a:p>
        </p:txBody>
      </p:sp>
    </p:spTree>
    <p:extLst>
      <p:ext uri="{BB962C8B-B14F-4D97-AF65-F5344CB8AC3E}">
        <p14:creationId xmlns:p14="http://schemas.microsoft.com/office/powerpoint/2010/main" val="350339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74200" y="751628"/>
            <a:ext cx="2930953" cy="1266358"/>
          </a:xfrm>
          <a:prstGeom prst="rect">
            <a:avLst/>
          </a:prstGeom>
          <a:solidFill>
            <a:srgbClr val="0D1117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83933" y="824781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21093" y="824781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58253" y="824781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424489" y="859506"/>
            <a:ext cx="5530326" cy="1050602"/>
          </a:xfrm>
          <a:prstGeom prst="rect">
            <a:avLst/>
          </a:prstGeom>
          <a:solidFill>
            <a:srgbClr val="1E293B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6 (the word "World" starts at position 6)</a:t>
            </a:r>
          </a:p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-1 (not found - Python returns -1 when searching fails)</a:t>
            </a:r>
          </a:p>
        </p:txBody>
      </p:sp>
      <p:sp>
        <p:nvSpPr>
          <p:cNvPr id="23" name="Google Shape;191;p8">
            <a:extLst>
              <a:ext uri="{FF2B5EF4-FFF2-40B4-BE49-F238E27FC236}">
                <a16:creationId xmlns:a16="http://schemas.microsoft.com/office/drawing/2014/main" id="{52B7A12F-0003-4D9D-8586-645E2DC992C0}"/>
              </a:ext>
            </a:extLst>
          </p:cNvPr>
          <p:cNvSpPr/>
          <p:nvPr/>
        </p:nvSpPr>
        <p:spPr>
          <a:xfrm>
            <a:off x="325259" y="182875"/>
            <a:ext cx="4620418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Substring find()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D2E97D-FF56-41B9-AF1F-C2BB6B5D788C}"/>
              </a:ext>
            </a:extLst>
          </p:cNvPr>
          <p:cNvSpPr txBox="1"/>
          <p:nvPr/>
        </p:nvSpPr>
        <p:spPr>
          <a:xfrm>
            <a:off x="325258" y="989434"/>
            <a:ext cx="29309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 World"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  </a:t>
            </a: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"Python"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 </a:t>
            </a:r>
          </a:p>
        </p:txBody>
      </p:sp>
      <p:sp>
        <p:nvSpPr>
          <p:cNvPr id="21" name="Google Shape;167;p7">
            <a:extLst>
              <a:ext uri="{FF2B5EF4-FFF2-40B4-BE49-F238E27FC236}">
                <a16:creationId xmlns:a16="http://schemas.microsoft.com/office/drawing/2014/main" id="{8C45CA61-ABA1-453F-A03F-AADA286D4DA7}"/>
              </a:ext>
            </a:extLst>
          </p:cNvPr>
          <p:cNvSpPr/>
          <p:nvPr/>
        </p:nvSpPr>
        <p:spPr>
          <a:xfrm>
            <a:off x="325258" y="3463297"/>
            <a:ext cx="4620419" cy="1266358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68;p7">
            <a:extLst>
              <a:ext uri="{FF2B5EF4-FFF2-40B4-BE49-F238E27FC236}">
                <a16:creationId xmlns:a16="http://schemas.microsoft.com/office/drawing/2014/main" id="{6C8A74E0-424F-40FE-8F30-82E817C97FE6}"/>
              </a:ext>
            </a:extLst>
          </p:cNvPr>
          <p:cNvSpPr/>
          <p:nvPr/>
        </p:nvSpPr>
        <p:spPr>
          <a:xfrm>
            <a:off x="434991" y="3536450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69;p7">
            <a:extLst>
              <a:ext uri="{FF2B5EF4-FFF2-40B4-BE49-F238E27FC236}">
                <a16:creationId xmlns:a16="http://schemas.microsoft.com/office/drawing/2014/main" id="{E78147D1-27BA-4F90-9E20-2792DC779826}"/>
              </a:ext>
            </a:extLst>
          </p:cNvPr>
          <p:cNvSpPr/>
          <p:nvPr/>
        </p:nvSpPr>
        <p:spPr>
          <a:xfrm>
            <a:off x="572151" y="3536450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70;p7">
            <a:extLst>
              <a:ext uri="{FF2B5EF4-FFF2-40B4-BE49-F238E27FC236}">
                <a16:creationId xmlns:a16="http://schemas.microsoft.com/office/drawing/2014/main" id="{2AC62957-7AB1-48EA-A695-899F9B6941B6}"/>
              </a:ext>
            </a:extLst>
          </p:cNvPr>
          <p:cNvSpPr/>
          <p:nvPr/>
        </p:nvSpPr>
        <p:spPr>
          <a:xfrm>
            <a:off x="709311" y="3536450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79;p7">
            <a:extLst>
              <a:ext uri="{FF2B5EF4-FFF2-40B4-BE49-F238E27FC236}">
                <a16:creationId xmlns:a16="http://schemas.microsoft.com/office/drawing/2014/main" id="{0401EEFF-645B-488E-9E94-D797146C647F}"/>
              </a:ext>
            </a:extLst>
          </p:cNvPr>
          <p:cNvSpPr/>
          <p:nvPr/>
        </p:nvSpPr>
        <p:spPr>
          <a:xfrm>
            <a:off x="325258" y="2579171"/>
            <a:ext cx="8282714" cy="56503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This is useful for checking if something exists before trying to work with it.</a:t>
            </a:r>
          </a:p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Confused seeing 'if'? Don't worry, we will learn it clearly in upcoming lectures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2152D4-DD7C-4D4F-B0A2-2C7482A78493}"/>
              </a:ext>
            </a:extLst>
          </p:cNvPr>
          <p:cNvSpPr txBox="1"/>
          <p:nvPr/>
        </p:nvSpPr>
        <p:spPr>
          <a:xfrm>
            <a:off x="274200" y="3917192"/>
            <a:ext cx="45759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"Found 'World' in the text!"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7597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74200" y="751628"/>
            <a:ext cx="2930953" cy="1266358"/>
          </a:xfrm>
          <a:prstGeom prst="rect">
            <a:avLst/>
          </a:prstGeom>
          <a:solidFill>
            <a:srgbClr val="0D1117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83933" y="824781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21093" y="824781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58253" y="824781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649717" y="859506"/>
            <a:ext cx="5305098" cy="1050602"/>
          </a:xfrm>
          <a:prstGeom prst="rect">
            <a:avLst/>
          </a:prstGeom>
          <a:solidFill>
            <a:srgbClr val="1E293B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3 (the letter 'a' appears 3 times)</a:t>
            </a:r>
          </a:p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2 (the sequence '</a:t>
            </a:r>
            <a:r>
              <a:rPr lang="en-US" sz="13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na</a:t>
            </a:r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' appears 2 times)</a:t>
            </a:r>
          </a:p>
        </p:txBody>
      </p:sp>
      <p:sp>
        <p:nvSpPr>
          <p:cNvPr id="23" name="Google Shape;191;p8">
            <a:extLst>
              <a:ext uri="{FF2B5EF4-FFF2-40B4-BE49-F238E27FC236}">
                <a16:creationId xmlns:a16="http://schemas.microsoft.com/office/drawing/2014/main" id="{52B7A12F-0003-4D9D-8586-645E2DC992C0}"/>
              </a:ext>
            </a:extLst>
          </p:cNvPr>
          <p:cNvSpPr/>
          <p:nvPr/>
        </p:nvSpPr>
        <p:spPr>
          <a:xfrm>
            <a:off x="325259" y="182875"/>
            <a:ext cx="4620418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Occurance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67;p7">
            <a:extLst>
              <a:ext uri="{FF2B5EF4-FFF2-40B4-BE49-F238E27FC236}">
                <a16:creationId xmlns:a16="http://schemas.microsoft.com/office/drawing/2014/main" id="{8C45CA61-ABA1-453F-A03F-AADA286D4DA7}"/>
              </a:ext>
            </a:extLst>
          </p:cNvPr>
          <p:cNvSpPr/>
          <p:nvPr/>
        </p:nvSpPr>
        <p:spPr>
          <a:xfrm>
            <a:off x="325258" y="3463297"/>
            <a:ext cx="5768114" cy="1045641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68;p7">
            <a:extLst>
              <a:ext uri="{FF2B5EF4-FFF2-40B4-BE49-F238E27FC236}">
                <a16:creationId xmlns:a16="http://schemas.microsoft.com/office/drawing/2014/main" id="{6C8A74E0-424F-40FE-8F30-82E817C97FE6}"/>
              </a:ext>
            </a:extLst>
          </p:cNvPr>
          <p:cNvSpPr/>
          <p:nvPr/>
        </p:nvSpPr>
        <p:spPr>
          <a:xfrm>
            <a:off x="434991" y="3536450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69;p7">
            <a:extLst>
              <a:ext uri="{FF2B5EF4-FFF2-40B4-BE49-F238E27FC236}">
                <a16:creationId xmlns:a16="http://schemas.microsoft.com/office/drawing/2014/main" id="{E78147D1-27BA-4F90-9E20-2792DC779826}"/>
              </a:ext>
            </a:extLst>
          </p:cNvPr>
          <p:cNvSpPr/>
          <p:nvPr/>
        </p:nvSpPr>
        <p:spPr>
          <a:xfrm>
            <a:off x="572151" y="3536450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70;p7">
            <a:extLst>
              <a:ext uri="{FF2B5EF4-FFF2-40B4-BE49-F238E27FC236}">
                <a16:creationId xmlns:a16="http://schemas.microsoft.com/office/drawing/2014/main" id="{2AC62957-7AB1-48EA-A695-899F9B6941B6}"/>
              </a:ext>
            </a:extLst>
          </p:cNvPr>
          <p:cNvSpPr/>
          <p:nvPr/>
        </p:nvSpPr>
        <p:spPr>
          <a:xfrm>
            <a:off x="709311" y="3536450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79;p7">
            <a:extLst>
              <a:ext uri="{FF2B5EF4-FFF2-40B4-BE49-F238E27FC236}">
                <a16:creationId xmlns:a16="http://schemas.microsoft.com/office/drawing/2014/main" id="{0401EEFF-645B-488E-9E94-D797146C647F}"/>
              </a:ext>
            </a:extLst>
          </p:cNvPr>
          <p:cNvSpPr/>
          <p:nvPr/>
        </p:nvSpPr>
        <p:spPr>
          <a:xfrm>
            <a:off x="325258" y="2579171"/>
            <a:ext cx="4082150" cy="56503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This is useful for analysis or validation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35EAD6-00E9-4F5D-A884-E7D95D2AC52A}"/>
              </a:ext>
            </a:extLst>
          </p:cNvPr>
          <p:cNvSpPr txBox="1"/>
          <p:nvPr/>
        </p:nvSpPr>
        <p:spPr>
          <a:xfrm>
            <a:off x="274200" y="950293"/>
            <a:ext cx="30602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"banana"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   </a:t>
            </a: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na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 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C30F7-C5EA-43E4-B077-903DB8E295B0}"/>
              </a:ext>
            </a:extLst>
          </p:cNvPr>
          <p:cNvSpPr txBox="1"/>
          <p:nvPr/>
        </p:nvSpPr>
        <p:spPr>
          <a:xfrm>
            <a:off x="325257" y="3699218"/>
            <a:ext cx="50507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"password123"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"Password contains at least one '1'"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5141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74199" y="751627"/>
            <a:ext cx="5505809" cy="2094049"/>
          </a:xfrm>
          <a:prstGeom prst="rect">
            <a:avLst/>
          </a:prstGeom>
          <a:solidFill>
            <a:srgbClr val="0D1117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83933" y="824781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21093" y="824781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58253" y="824781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243145" y="639746"/>
            <a:ext cx="2806262" cy="2619990"/>
          </a:xfrm>
          <a:prstGeom prst="rect">
            <a:avLst/>
          </a:prstGeom>
          <a:solidFill>
            <a:srgbClr val="1E293B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3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Output: </a:t>
            </a:r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python is fun</a:t>
            </a:r>
          </a:p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3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Output: </a:t>
            </a:r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PYTHON IS FUN</a:t>
            </a:r>
          </a:p>
          <a:p>
            <a:endParaRPr lang="en-US" sz="13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3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3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3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Python Is Fun</a:t>
            </a:r>
          </a:p>
        </p:txBody>
      </p:sp>
      <p:sp>
        <p:nvSpPr>
          <p:cNvPr id="23" name="Google Shape;191;p8">
            <a:extLst>
              <a:ext uri="{FF2B5EF4-FFF2-40B4-BE49-F238E27FC236}">
                <a16:creationId xmlns:a16="http://schemas.microsoft.com/office/drawing/2014/main" id="{52B7A12F-0003-4D9D-8586-645E2DC992C0}"/>
              </a:ext>
            </a:extLst>
          </p:cNvPr>
          <p:cNvSpPr/>
          <p:nvPr/>
        </p:nvSpPr>
        <p:spPr>
          <a:xfrm>
            <a:off x="325259" y="182875"/>
            <a:ext cx="4620418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Case_Changing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B9A6EA-3D73-4300-BD1F-5F05B65647D1}"/>
              </a:ext>
            </a:extLst>
          </p:cNvPr>
          <p:cNvSpPr txBox="1"/>
          <p:nvPr/>
        </p:nvSpPr>
        <p:spPr>
          <a:xfrm>
            <a:off x="263185" y="987549"/>
            <a:ext cx="548334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"Python is FUN"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 </a:t>
            </a: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 </a:t>
            </a: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You can make first character of every word capital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895537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74200" y="751626"/>
            <a:ext cx="5180670" cy="2094049"/>
          </a:xfrm>
          <a:prstGeom prst="rect">
            <a:avLst/>
          </a:prstGeom>
          <a:solidFill>
            <a:srgbClr val="0D1117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83933" y="824781"/>
            <a:ext cx="91500" cy="915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21093" y="824781"/>
            <a:ext cx="91500" cy="915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58253" y="824781"/>
            <a:ext cx="91500" cy="915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5872656" y="1267186"/>
            <a:ext cx="2806262" cy="1062930"/>
          </a:xfrm>
          <a:prstGeom prst="rect">
            <a:avLst/>
          </a:prstGeom>
          <a:solidFill>
            <a:srgbClr val="1E293B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3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Output: </a:t>
            </a:r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True</a:t>
            </a:r>
          </a:p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3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Output: </a:t>
            </a:r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True</a:t>
            </a:r>
          </a:p>
          <a:p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300" b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Output: </a:t>
            </a:r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23" name="Google Shape;191;p8">
            <a:extLst>
              <a:ext uri="{FF2B5EF4-FFF2-40B4-BE49-F238E27FC236}">
                <a16:creationId xmlns:a16="http://schemas.microsoft.com/office/drawing/2014/main" id="{52B7A12F-0003-4D9D-8586-645E2DC992C0}"/>
              </a:ext>
            </a:extLst>
          </p:cNvPr>
          <p:cNvSpPr/>
          <p:nvPr/>
        </p:nvSpPr>
        <p:spPr>
          <a:xfrm>
            <a:off x="325259" y="182875"/>
            <a:ext cx="4620418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start_with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end_with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E64E9E-538F-478F-ADF1-296A3E63F39E}"/>
              </a:ext>
            </a:extLst>
          </p:cNvPr>
          <p:cNvSpPr txBox="1"/>
          <p:nvPr/>
        </p:nvSpPr>
        <p:spPr>
          <a:xfrm>
            <a:off x="274199" y="1029794"/>
            <a:ext cx="45759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"report2025.csv"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startswith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"report"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 </a:t>
            </a:r>
          </a:p>
          <a:p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endswith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".csv"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endswith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".txt"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 </a:t>
            </a:r>
          </a:p>
        </p:txBody>
      </p:sp>
    </p:spTree>
    <p:extLst>
      <p:ext uri="{BB962C8B-B14F-4D97-AF65-F5344CB8AC3E}">
        <p14:creationId xmlns:p14="http://schemas.microsoft.com/office/powerpoint/2010/main" val="11104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87171"/>
          </a:solidFill>
          <a:ln w="1270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7.1.11 – 7.1.14  Useful String Methods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Finding, counting, changing case &amp; more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82880" y="1097280"/>
            <a:ext cx="4251960" cy="9144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182880" y="1097280"/>
            <a:ext cx="4251960" cy="4572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292608" y="11887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.find(sub)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292608" y="144475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text.find("World")  # 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292608" y="16916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Returns position, -1 if not found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663440" y="1097280"/>
            <a:ext cx="4251960" cy="9144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663440" y="1097280"/>
            <a:ext cx="4251960" cy="4572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773168" y="11887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.count(sub)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773168" y="144475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"banana".count("a") #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773168" y="16916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Counts occurrences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82880" y="2084832"/>
            <a:ext cx="4251960" cy="9144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82880" y="2084832"/>
            <a:ext cx="4251960" cy="457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292608" y="21762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.lower()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292608" y="243230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"HELLO".lower()  # hello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292608" y="267919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characters lowercase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663440" y="2084832"/>
            <a:ext cx="4251960" cy="9144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4663440" y="2084832"/>
            <a:ext cx="4251960" cy="45720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773168" y="21762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.upper()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4773168" y="243230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"hello".upper()  # HELLO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773168" y="267919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characters uppercase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82880" y="3072384"/>
            <a:ext cx="4251960" cy="9144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182880" y="3072384"/>
            <a:ext cx="4251960" cy="45720"/>
          </a:xfrm>
          <a:prstGeom prst="rect">
            <a:avLst/>
          </a:prstGeom>
          <a:solidFill>
            <a:srgbClr val="F87171"/>
          </a:solidFill>
          <a:ln w="1270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292608" y="3163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.title()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292608" y="341985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"hello world".title() # Hello World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292608" y="366674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First letter of each word capitalized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4663440" y="3072384"/>
            <a:ext cx="4251960" cy="9144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4663440" y="3072384"/>
            <a:ext cx="4251960" cy="4572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773168" y="3163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.split(sep)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773168" y="341985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"a,b,c".split(",")  # ['a','b','c']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773168" y="366674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Breaks into a list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182880" y="4059936"/>
            <a:ext cx="4251960" cy="9144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182880" y="4059936"/>
            <a:ext cx="4251960" cy="4572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292608" y="415137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.startswith()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292608" y="440740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"report.csv".startswith("report")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292608" y="465429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Returns True/False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663440" y="4059936"/>
            <a:ext cx="4251960" cy="9144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4663440" y="4059936"/>
            <a:ext cx="4251960" cy="457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773168" y="415137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.endswith()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773168" y="440740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"file.csv".endswith(".csv")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773168" y="465429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Returns True/False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Exercises 💪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Try these yourself!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182880" y="1097280"/>
            <a:ext cx="4297680" cy="118872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182880" y="1097280"/>
            <a:ext cx="4297680" cy="4572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320040" y="117043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1. Change Case Practice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20040" y="150876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Take a user input string. Print it in lowercase, UPPERCASE, and Title Case.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663440" y="1097280"/>
            <a:ext cx="4297680" cy="118872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4663440" y="1097280"/>
            <a:ext cx="4297680" cy="4572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4800600" y="117043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2. Filename Filter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800600" y="150876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From a list, print only filenames that start with "data" and end with ".csv".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182880" y="2423160"/>
            <a:ext cx="4297680" cy="118872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182880" y="2423160"/>
            <a:ext cx="4297680" cy="457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320040" y="249631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3. Email Domain Checker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320040" y="283464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Check if an email ends with "@gmail.com". Print "Gmail account" or "Other provider".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4663440" y="2423160"/>
            <a:ext cx="4297680" cy="118872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4663440" y="2423160"/>
            <a:ext cx="4297680" cy="45720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4800600" y="249631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4. Custom Hashtag Generator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800600" y="283464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Input: " Python Is Awesome "  →  Output: #python_is_awesome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(strip, lower, replace spaces with _)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2286000" y="3749040"/>
            <a:ext cx="4572000" cy="118872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2286000" y="3749040"/>
            <a:ext cx="4572000" cy="45720"/>
          </a:xfrm>
          <a:prstGeom prst="rect">
            <a:avLst/>
          </a:prstGeom>
          <a:solidFill>
            <a:srgbClr val="F87171"/>
          </a:solidFill>
          <a:ln w="1270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2423160" y="382219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5. Validate Password Start &amp; 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2423160" y="416052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Check if password starts with a letter and ends with a digit (0-9). Print Valid/Invalid.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Solutions 🧪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One possible answer for each exercise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182880" y="1097280"/>
            <a:ext cx="4297680" cy="150876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292608" y="1170432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429768" y="1170432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566928" y="1170432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292608" y="1298448"/>
            <a:ext cx="41148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Exercise 1: Change Case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 = input("Enter text: 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print(text.lower())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print(text.upper())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print(text.title())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663440" y="1097280"/>
            <a:ext cx="4297680" cy="150876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4773168" y="1170432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4910328" y="1170432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5047488" y="1170432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4773168" y="1298448"/>
            <a:ext cx="41148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Exercise 2: Filename Filter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files = ["data1.csv","image.png","data_report.csv","summary.txt"]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for f in files: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if f.startswith("data") and f.endswith(".csv"):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    print(f)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82880" y="2743200"/>
            <a:ext cx="4297680" cy="150876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292608" y="2816352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429768" y="2816352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566928" y="2816352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292608" y="2944368"/>
            <a:ext cx="41148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Exercise 3: Email Domain Checker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email = input("Enter email: 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if email.endswith("@gmail.com"):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print("Gmail account detected")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print("Other email provider")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663440" y="2743200"/>
            <a:ext cx="4297680" cy="150876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4773168" y="2816352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4910328" y="2816352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5047488" y="2816352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4773168" y="2944368"/>
            <a:ext cx="41148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Exercise 4: Hashtag Generator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sentence = input("Enter sentence: 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hashtag = "#" + sentence.strip().lower().replace(" ", "_")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print(hashtag)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182880" y="4315968"/>
            <a:ext cx="8778240" cy="128016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292608" y="4389120"/>
            <a:ext cx="91440" cy="9144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429768" y="4389120"/>
            <a:ext cx="91440" cy="9144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566928" y="4389120"/>
            <a:ext cx="91440" cy="9144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292608" y="4517136"/>
            <a:ext cx="85953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Exercise 5: Validate Password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password = input("Enter password: 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letters = "abcdefghijklmnopqrstuvwxyzABCDEFGHIJKLMNOPQRSTUVWXYZ"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digits = "0123456789"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if password.startswith(tuple(letters)) and password.endswith(tuple(digits)):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print("Valid start and Valid end")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print("Invalid password")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182880" y="18288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 7 — Quick Summary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82880" y="82296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02920" y="82296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String: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sequence of characters. Created with ' ', " ", or ''' '''.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663440" y="82296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4983480" y="82296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Immutable: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You can't change a character in-place. Build a new string.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182880" y="152704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📏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502920" y="1527048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len():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Returns total number of characters including spaces.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4663440" y="152704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🧹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4983480" y="1527048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strip():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Removes leading/trailing whitespace from a string.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182880" y="2231136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502920" y="2231136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replace():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Replaces all occurrences of a substring with another.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4663440" y="2231136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4983480" y="2231136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f-strings: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Insert variables directly: f"Hello {name}"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182880" y="2935224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502920" y="2935224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Indexing: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Access characters by position: text[0], text[-1].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663440" y="2935224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✂️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983480" y="2935224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Slicing: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Extract portion: text[start:end] (end not included).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182880" y="3639312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502920" y="3639312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find()/count():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Locate or count substrings.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663440" y="3639312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🔡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983480" y="3639312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Case methods: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.lower(), .upper(), .title() to change case.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182880" y="434340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📂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502920" y="434340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split():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Break string into a list using a separator.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4663440" y="434340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4983480" y="434340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startswith/endswith:  </a:t>
            </a: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Check how a string begins or ends.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2046</Words>
  <Application>Microsoft Office PowerPoint</Application>
  <PresentationFormat>On-screen Show (16:9)</PresentationFormat>
  <Paragraphs>348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Consolas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Amit Roy</cp:lastModifiedBy>
  <cp:revision>13</cp:revision>
  <dcterms:modified xsi:type="dcterms:W3CDTF">2026-05-07T09:43:34Z</dcterms:modified>
</cp:coreProperties>
</file>