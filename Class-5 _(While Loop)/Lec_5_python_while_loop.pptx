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6adfe9f21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6adfe9f21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e6adfe9f21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6adfe9f21_2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6adfe9f21_2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e6adfe9f21_2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6bbfdc10b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e6bbfdc10b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e6bbfdc10b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6adfe9f21_2_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6adfe9f21_2_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e6adfe9f21_2_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6adfe9f21_2_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6adfe9f21_2_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e6adfe9f21_2_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6adfe9f21_2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6adfe9f21_2_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e6adfe9f21_2_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6bbfdc10b_0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6bbfdc10b_0_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e6bbfdc10b_0_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6bbfdc10b_0_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e6bbfdc10b_0_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e6bbfdc10b_0_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6adfe9f21_2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6adfe9f21_2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e6adfe9f21_2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6bbfdc10b_0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6bbfdc10b_0_8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e6bbfdc10b_0_8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6bbfdc10b_0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e6bbfdc10b_0_1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e6bbfdc10b_0_1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6bbfdc10b_0_1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e6bbfdc10b_0_16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e6bbfdc10b_0_16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6adfe9f21_2_1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e6adfe9f21_2_1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e6adfe9f21_2_1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6bbfdc10b_0_1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e6bbfdc10b_0_1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e6bbfdc10b_0_11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6adfe9f21_2_1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e6adfe9f21_2_1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e6adfe9f21_2_1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6bbfdc10b_0_1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e6bbfdc10b_0_17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e6bbfdc10b_0_17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6bbfdc10b_0_2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6bbfdc10b_0_2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e6bbfdc10b_0_2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6adfe9f21_2_1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e6adfe9f21_2_1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e6adfe9f21_2_1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6adfe9f21_2_2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e6adfe9f21_2_2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3e6adfe9f21_2_2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6bbfdc10b_0_2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e6bbfdc10b_0_2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e6bbfdc10b_0_2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6bbfdc10b_0_3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e6bbfdc10b_0_3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e6bbfdc10b_0_3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41148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" sz="5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Loop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914400" y="259865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Keep Going Until It's Done!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b="1" lang="en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Amit Roy</a:t>
            </a:r>
            <a:br>
              <a:rPr b="1" i="0" lang="en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MSc student at IIT</a:t>
            </a:r>
            <a:endParaRPr b="1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0" y="509778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Exactly is  </a:t>
            </a:r>
            <a:r>
              <a:rPr b="1" i="0" lang="en" sz="3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57200" y="1188725"/>
            <a:ext cx="6800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100">
                <a:solidFill>
                  <a:schemeClr val="lt1"/>
                </a:solidFill>
              </a:rPr>
              <a:t>I was listening to music </a:t>
            </a:r>
            <a:r>
              <a:rPr b="1" lang="en" sz="2100">
                <a:solidFill>
                  <a:srgbClr val="EA9999"/>
                </a:solidFill>
              </a:rPr>
              <a:t>while</a:t>
            </a:r>
            <a:r>
              <a:rPr lang="en" sz="2100">
                <a:solidFill>
                  <a:srgbClr val="EA9999"/>
                </a:solidFill>
              </a:rPr>
              <a:t> </a:t>
            </a:r>
            <a:r>
              <a:rPr lang="en" sz="2100">
                <a:solidFill>
                  <a:schemeClr val="lt1"/>
                </a:solidFill>
              </a:rPr>
              <a:t>doing my homework. 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57200" y="27432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alibri"/>
              <a:buNone/>
            </a:pPr>
            <a:r>
              <a:rPr b="0" i="0" lang="en" sz="20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" sz="20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Statement:  </a:t>
            </a:r>
            <a:r>
              <a:rPr lang="en" sz="2000">
                <a:solidFill>
                  <a:schemeClr val="lt1"/>
                </a:solidFill>
              </a:rPr>
              <a:t>I was listening to music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57200" y="196596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" sz="20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•  Condition: </a:t>
            </a:r>
            <a:r>
              <a:rPr lang="en" sz="2000">
                <a:solidFill>
                  <a:schemeClr val="lt1"/>
                </a:solidFill>
              </a:rPr>
              <a:t>doing my homework.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0" y="5097780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Exactly is a </a:t>
            </a:r>
            <a:r>
              <a:rPr b="1" i="0" lang="en" sz="3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Loop?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57200" y="118872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 Think of it like waiting for a bus.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57200" y="196596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•  Condition: 'I will wait as long as the bus hasn't arrived.'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57200" y="27432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•  As long as condition is True (no bus) → you keep waiting (looping).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57200" y="352044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•  When condition becomes False (bus arrives) → you stop waiting!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217920" y="1371600"/>
            <a:ext cx="2560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🚌🧍‍♂️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5097780"/>
            <a:ext cx="18288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How the Computer Reads 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365750" y="1005851"/>
            <a:ext cx="4572000" cy="3664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640080" y="1211478"/>
            <a:ext cx="4114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1.  Check the condition.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40080" y="1718051"/>
            <a:ext cx="4114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2.  If it's True, run the code inside.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640080" y="2282030"/>
            <a:ext cx="4114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3.  Go back up and check again.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640080" y="2777123"/>
            <a:ext cx="4114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4.  If it's False, skip the code and exit!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0" y="509778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635" y="1005855"/>
            <a:ext cx="3403275" cy="367284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529850" y="3422751"/>
            <a:ext cx="4114800" cy="9483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21295" y="3618749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" sz="16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c</a:t>
            </a:r>
            <a:r>
              <a:rPr lang="en" sz="16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ondition</a:t>
            </a:r>
            <a:r>
              <a:rPr b="0" i="0" lang="en" sz="16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621300" y="3929650"/>
            <a:ext cx="4023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" sz="15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# Some statement to be executed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21295" y="4240541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3 Golden Rules! 🏆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57200" y="832150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working while loop needs these 3 parts: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1188720" y="12801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1188720" y="15819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do we start?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1188720" y="21945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1188720" y="24963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do we stop?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1188720" y="3108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1188720" y="3410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do we move forward?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754875" y="1477170"/>
            <a:ext cx="4114800" cy="3279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892040" y="1568614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093208" y="1568614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294376" y="1568614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846320" y="1842934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# 1. Initialize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846320" y="2153830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846320" y="2464726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846320" y="2775622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# 2. Condition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846320" y="3086518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count &lt;= 5: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846320" y="3397414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print(f"Count: {count}")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846320" y="3708310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846320" y="4019206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# 3.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846320" y="4330102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    count = count + 1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0" y="509778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754875" y="669271"/>
            <a:ext cx="4114800" cy="640200"/>
          </a:xfrm>
          <a:prstGeom prst="rect">
            <a:avLst/>
          </a:prstGeom>
          <a:solidFill>
            <a:srgbClr val="20124D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Practice 5.1: </a:t>
            </a:r>
            <a:r>
              <a:rPr lang="en">
                <a:solidFill>
                  <a:srgbClr val="D9EAD3"/>
                </a:solidFill>
              </a:rPr>
              <a:t>Counting</a:t>
            </a:r>
            <a:r>
              <a:rPr lang="en">
                <a:solidFill>
                  <a:srgbClr val="D9EAD3"/>
                </a:solidFill>
              </a:rPr>
              <a:t> From 1 to 5</a:t>
            </a:r>
            <a:endParaRPr b="0" i="0" sz="1400" u="none" cap="none" strike="noStrike">
              <a:solidFill>
                <a:srgbClr val="D9EAD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Fun Example: Countdown! 🚀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57200" y="822950"/>
            <a:ext cx="6525300" cy="4572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5.2: </a:t>
            </a:r>
            <a:r>
              <a:rPr b="0" i="0" lang="en" sz="1600" u="none" cap="none" strike="noStrike">
                <a:solidFill>
                  <a:srgbClr val="D9EAD3"/>
                </a:solidFill>
                <a:latin typeface="Calibri"/>
                <a:ea typeface="Calibri"/>
                <a:cs typeface="Calibri"/>
                <a:sym typeface="Calibri"/>
              </a:rPr>
              <a:t>Let's launch a rocket by counting backward from 10. (10 to 1)</a:t>
            </a:r>
            <a:endParaRPr b="0" i="0" sz="1600" u="none" cap="none" strike="noStrike">
              <a:solidFill>
                <a:srgbClr val="D9EA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365760" y="1371600"/>
            <a:ext cx="5486400" cy="3474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02920" y="1463040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704088" y="1463040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905256" y="1463040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02920" y="1737360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number =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02920" y="2066544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print("Countdown:")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02920" y="2395728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02920" y="2724912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number &gt; 0: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02920" y="3054096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print(number)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02920" y="3383280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# Counting down!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02920" y="3712464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    number = number - 1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02920" y="4041648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02920" y="4370832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print("Blast off! 🚀")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113775" y="1691625"/>
            <a:ext cx="192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222350" y="1495275"/>
            <a:ext cx="493800" cy="3328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Class Task 1: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22" y="775092"/>
            <a:ext cx="5342675" cy="7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Class Task 1: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72408" y="2106379"/>
            <a:ext cx="5486400" cy="212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709578" y="2197826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910746" y="2197826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1111914" y="2197826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709578" y="2472146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number =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709578" y="2782317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number </a:t>
            </a:r>
            <a:r>
              <a:rPr lang="en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&lt;=300</a:t>
            </a:r>
            <a:r>
              <a:rPr b="0" i="0" lang="en" sz="14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709578" y="3111501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print(number)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709578" y="3440685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# Counting down!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709578" y="3769869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    number = number</a:t>
            </a:r>
            <a:r>
              <a:rPr lang="en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 + 10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22" y="775092"/>
            <a:ext cx="5342675" cy="7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When to use which loop?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365760" y="914400"/>
            <a:ext cx="3657600" cy="393192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65760" y="914400"/>
            <a:ext cx="36576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57200" y="10972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2600"/>
              <a:buFont typeface="Consolas"/>
              <a:buNone/>
            </a:pPr>
            <a:r>
              <a:rPr b="1" i="0" lang="en" sz="26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for Loop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48640" y="1691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you know exactly how many times to repeat.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365760" y="25603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i="0" lang="en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🏋️‍♂️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457200" y="3749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i="1" lang="en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Lift the weight 10 times</a:t>
            </a:r>
            <a:r>
              <a:rPr b="0" i="1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023360" y="22860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120640" y="914400"/>
            <a:ext cx="3657600" cy="393192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120640" y="914400"/>
            <a:ext cx="36576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212080" y="10972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600"/>
              <a:buFont typeface="Consolas"/>
              <a:buNone/>
            </a:pPr>
            <a:r>
              <a:rPr b="1" i="0" lang="en" sz="26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while Loop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303520" y="1691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you don't know how many times, just a condition.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120640" y="25603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i="0" lang="en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🚗⛽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212080" y="3749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"Keep driving until fuel is empty."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0" y="5097780"/>
            <a:ext cx="5486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/>
          <p:nvPr/>
        </p:nvSpPr>
        <p:spPr>
          <a:xfrm>
            <a:off x="365750" y="900878"/>
            <a:ext cx="6191700" cy="1529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b="1" i="1" lang="en" sz="32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While loop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02920" y="992318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704088" y="992318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905256" y="992318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502925" y="1269878"/>
            <a:ext cx="58980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Using for loop when you know the exact number of iterations</a:t>
            </a:r>
            <a:endParaRPr sz="12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"Using FOR loop - counting 1 to 5:"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):          </a:t>
            </a:r>
            <a:r>
              <a:rPr lang="en" sz="12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We know exactly 5 iterations</a:t>
            </a:r>
            <a:endParaRPr sz="12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2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2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"Number: </a:t>
            </a:r>
            <a:r>
              <a:rPr lang="en" sz="12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2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2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56075" y="2571749"/>
            <a:ext cx="6191700" cy="1887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93245" y="2663193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94413" y="2663193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895581" y="2663193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493250" y="2940750"/>
            <a:ext cx="60642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Using while loop for the same task (less common for counting)</a:t>
            </a:r>
            <a:endParaRPr sz="10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"Using WHILE loop - counting 1 to 5:"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Initialize</a:t>
            </a:r>
            <a:endParaRPr sz="10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            </a:t>
            </a:r>
            <a:r>
              <a:rPr lang="en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Test condition</a:t>
            </a:r>
            <a:endParaRPr sz="10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"Number: </a:t>
            </a:r>
            <a:r>
              <a:rPr lang="en" sz="10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0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" sz="10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Loop body</a:t>
            </a:r>
            <a:endParaRPr sz="10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Update counter</a:t>
            </a:r>
            <a:endParaRPr sz="12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Fun Example: </a:t>
            </a: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Sum Calculator</a:t>
            </a: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57200" y="822950"/>
            <a:ext cx="6525300" cy="4572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5.4: </a:t>
            </a:r>
            <a:r>
              <a:rPr lang="en" sz="1600">
                <a:solidFill>
                  <a:srgbClr val="D9EAD3"/>
                </a:solidFill>
                <a:latin typeface="Calibri"/>
                <a:ea typeface="Calibri"/>
                <a:cs typeface="Calibri"/>
                <a:sym typeface="Calibri"/>
              </a:rPr>
              <a:t>Calculate sum of the numbers until user enter 0</a:t>
            </a:r>
            <a:endParaRPr b="0" i="0" sz="1600" u="none" cap="none" strike="noStrike">
              <a:solidFill>
                <a:srgbClr val="D9EA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Fun Example: </a:t>
            </a: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Sum Calculator</a:t>
            </a: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457200" y="822950"/>
            <a:ext cx="6525300" cy="4572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5.4: </a:t>
            </a:r>
            <a:r>
              <a:rPr lang="en" sz="1600">
                <a:solidFill>
                  <a:srgbClr val="D9EAD3"/>
                </a:solidFill>
                <a:latin typeface="Calibri"/>
                <a:ea typeface="Calibri"/>
                <a:cs typeface="Calibri"/>
                <a:sym typeface="Calibri"/>
              </a:rPr>
              <a:t>Calculate sum of the numbers until user enter 0</a:t>
            </a:r>
            <a:endParaRPr b="0" i="0" sz="1600" u="none" cap="none" strike="noStrike">
              <a:solidFill>
                <a:srgbClr val="D9EA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365747" y="1371600"/>
            <a:ext cx="6961200" cy="3474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02920" y="1463040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704088" y="1463040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905256" y="1463040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02920" y="2395728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551100" y="1600150"/>
            <a:ext cx="7281000" cy="3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1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" sz="11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Initialized with 1 just to start the loop</a:t>
            </a:r>
            <a:endParaRPr sz="11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"Enter numbers to add (enter 0 to stop):"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               </a:t>
            </a:r>
            <a:r>
              <a:rPr lang="en" sz="11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Condition: Stop the loop if user enters 0</a:t>
            </a:r>
            <a:endParaRPr sz="11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"Enter a number: "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              </a:t>
            </a:r>
            <a:r>
              <a:rPr lang="en" sz="11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Only add if the number is not 0</a:t>
            </a:r>
            <a:endParaRPr sz="11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 sz="11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1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"Running total: </a:t>
            </a:r>
            <a:r>
              <a:rPr lang="en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lang="en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"Final sum: </a:t>
            </a:r>
            <a:r>
              <a:rPr lang="en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lang="en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00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00"/>
          </a:solidFill>
          <a:ln cap="flat" cmpd="sng" w="508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/>
          <p:nvPr/>
        </p:nvSpPr>
        <p:spPr>
          <a:xfrm>
            <a:off x="1005840" y="2286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DANGER: Infinite Loop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What happens if you forget Rule #3 (The Update)?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54864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• The condition never becomes False.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548640" y="18741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• The loop runs FOREVER.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48640" y="2319627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• Your program crashes/hangs!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365760" y="2834640"/>
            <a:ext cx="5029200" cy="1920240"/>
          </a:xfrm>
          <a:prstGeom prst="rect">
            <a:avLst/>
          </a:prstGeom>
          <a:solidFill>
            <a:srgbClr val="1E1E1E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48640" y="292608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48640" y="3255264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count &lt;= 5: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548640" y="3584448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print(count)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548640" y="391363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    # MISSING: count = count + 1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48640" y="42428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    # Prints forever! ☠️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5486400" y="13716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🐹🔄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5303520" y="32004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RUNNING FOREVER...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00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00"/>
          </a:solidFill>
          <a:ln cap="flat" cmpd="sng" w="508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9" name="Google Shape;3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/>
          <p:nvPr/>
        </p:nvSpPr>
        <p:spPr>
          <a:xfrm>
            <a:off x="1005840" y="228600"/>
            <a:ext cx="6400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DANGER: Infinite Loop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" sz="2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Common Mistake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54864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Forgetting to update the control variable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548650" y="1874100"/>
            <a:ext cx="665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Updating in the wrong direction (decreasing when </a:t>
            </a:r>
            <a:r>
              <a:rPr lang="en" sz="15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en" sz="15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should increase)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548651" y="2319625"/>
            <a:ext cx="521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Using the wrong comparison operator in the condition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0" y="5097780"/>
            <a:ext cx="64008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Loop Control: Rules Breakers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1783080" y="1143000"/>
            <a:ext cx="1097280" cy="10972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7" name="Google Shape;3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0" y="12801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/>
          <p:nvPr/>
        </p:nvSpPr>
        <p:spPr>
          <a:xfrm>
            <a:off x="457200" y="2377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800"/>
              <a:buFont typeface="Consolas"/>
              <a:buNone/>
            </a:pPr>
            <a:r>
              <a:rPr b="1" i="0" lang="en" sz="28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Emergency Exit.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548640" y="333756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Stops the loop completely, no matter what the condition is, and jumps 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6263640" y="114300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3" name="Google Shape;3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2801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9"/>
          <p:cNvSpPr/>
          <p:nvPr/>
        </p:nvSpPr>
        <p:spPr>
          <a:xfrm>
            <a:off x="4937760" y="2377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800"/>
              <a:buFont typeface="Consolas"/>
              <a:buNone/>
            </a:pPr>
            <a:r>
              <a:rPr b="1" i="0" lang="en" sz="2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5029200" y="2926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Skip Button.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5029200" y="333756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Skips the rest of the current round and jumps right back to the top condition check.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0" y="5097780"/>
            <a:ext cx="7315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Loop Control: Rules Breakers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365760" y="960120"/>
            <a:ext cx="3931800" cy="384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457100" y="902710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800"/>
              <a:buFont typeface="Consolas"/>
              <a:buNone/>
            </a:pPr>
            <a:r>
              <a:rPr b="1" i="0" lang="en" sz="28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4846320" y="960120"/>
            <a:ext cx="3931800" cy="384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4937710" y="902710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800"/>
              <a:buFont typeface="Consolas"/>
              <a:buNone/>
            </a:pPr>
            <a:r>
              <a:rPr b="1" i="0" lang="en" sz="2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0" y="5097780"/>
            <a:ext cx="73152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30"/>
          <p:cNvPicPr preferRelativeResize="0"/>
          <p:nvPr/>
        </p:nvPicPr>
        <p:blipFill rotWithShape="1">
          <a:blip r:embed="rId3">
            <a:alphaModFix/>
          </a:blip>
          <a:srcRect b="0" l="19361" r="9435" t="0"/>
          <a:stretch/>
        </p:blipFill>
        <p:spPr>
          <a:xfrm>
            <a:off x="453946" y="1464162"/>
            <a:ext cx="3801341" cy="32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/>
          <p:cNvPicPr preferRelativeResize="0"/>
          <p:nvPr/>
        </p:nvPicPr>
        <p:blipFill rotWithShape="1">
          <a:blip r:embed="rId4">
            <a:alphaModFix/>
          </a:blip>
          <a:srcRect b="3345" l="19573" r="18584" t="5013"/>
          <a:stretch/>
        </p:blipFill>
        <p:spPr>
          <a:xfrm>
            <a:off x="4990696" y="1464150"/>
            <a:ext cx="3661662" cy="33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Loop Control: Rules Breakers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65760" y="960120"/>
            <a:ext cx="3931800" cy="384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457100" y="902710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800"/>
              <a:buFont typeface="Consolas"/>
              <a:buNone/>
            </a:pPr>
            <a:r>
              <a:rPr b="1" i="0" lang="en" sz="28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4846320" y="960120"/>
            <a:ext cx="3931800" cy="384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937710" y="902710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800"/>
              <a:buFont typeface="Consolas"/>
              <a:buNone/>
            </a:pPr>
            <a:r>
              <a:rPr b="1" i="0" lang="en" sz="2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0" y="5097780"/>
            <a:ext cx="73152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528134" y="1699910"/>
            <a:ext cx="3551700" cy="27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loop stop here</a:t>
            </a:r>
            <a:endParaRPr sz="14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5075475" y="1711375"/>
            <a:ext cx="33075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3 skip </a:t>
            </a:r>
            <a:endParaRPr sz="14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"/>
          <p:cNvSpPr/>
          <p:nvPr/>
        </p:nvSpPr>
        <p:spPr>
          <a:xfrm>
            <a:off x="457200" y="18288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Real-Life: Password Checker 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457200" y="8229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lang="en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5.8 </a:t>
            </a:r>
            <a:r>
              <a:rPr b="0" i="0" lang="en" sz="1400" u="none" cap="none" strike="noStrike">
                <a:solidFill>
                  <a:srgbClr val="C9DAF8"/>
                </a:solidFill>
                <a:latin typeface="Calibri"/>
                <a:ea typeface="Calibri"/>
                <a:cs typeface="Calibri"/>
                <a:sym typeface="Calibri"/>
              </a:rPr>
              <a:t>A common use: force a user to enter valid information. It will keep asking until correct!</a:t>
            </a:r>
            <a:endParaRPr b="0" i="0" sz="1400" u="none" cap="none" strike="noStrike">
              <a:solidFill>
                <a:srgbClr val="C9DA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365760" y="1463040"/>
            <a:ext cx="5486400" cy="33832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502920" y="155448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704088" y="1554480"/>
            <a:ext cx="137160" cy="13716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905256" y="155448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502920" y="182880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correct_pwd = "python123"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502920" y="212140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user_pwd = ""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502920" y="2414016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502920" y="2706624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user_pwd != correct_pwd: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502920" y="2999232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user_pwd = input("Enter password: 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502920" y="329184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502920" y="358444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    if user_pwd != correct_pwd: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502920" y="3877056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    print("Wrong! Try again.")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502920" y="4169664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502920" y="4462272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print("Access granted! 🔓")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6583680" y="640080"/>
            <a:ext cx="2103120" cy="4114800"/>
          </a:xfrm>
          <a:prstGeom prst="roundRect">
            <a:avLst>
              <a:gd fmla="val 13043" name="adj"/>
            </a:avLst>
          </a:prstGeom>
          <a:solidFill>
            <a:srgbClr val="0F172A"/>
          </a:solidFill>
          <a:ln cap="flat" cmpd="sng" w="508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7086600" y="640080"/>
            <a:ext cx="109728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6" name="Google Shape;3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0" y="11887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2"/>
          <p:cNvSpPr/>
          <p:nvPr/>
        </p:nvSpPr>
        <p:spPr>
          <a:xfrm>
            <a:off x="6766560" y="2148840"/>
            <a:ext cx="173736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6766560" y="21488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* * * * *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6766560" y="2697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7269480" y="2697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7772400" y="2697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6766560" y="32461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7269480" y="32461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7772400" y="32461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0" y="5097780"/>
            <a:ext cx="8229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4" name="Google Shape;4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27432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Thank you for listening!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Let’s Practice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365740" y="960125"/>
            <a:ext cx="7959900" cy="384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0" y="5097780"/>
            <a:ext cx="73152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677375" y="1102889"/>
            <a:ext cx="7085700" cy="3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FFFF"/>
                </a:solidFill>
              </a:rPr>
              <a:t>1. Simple Countdown</a:t>
            </a:r>
            <a:endParaRPr b="1" sz="1800">
              <a:solidFill>
                <a:srgbClr val="00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Write a program that asks the user for a starting number and counts down to 1, printing each number. 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2. Even Number Counter</a:t>
            </a:r>
            <a:endParaRPr b="1" sz="1800">
              <a:solidFill>
                <a:srgbClr val="00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Use a while loop to print all even numbers from 2 to 20. 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3. Positive Number Sum</a:t>
            </a:r>
            <a:endParaRPr b="1" sz="1800">
              <a:solidFill>
                <a:srgbClr val="00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Keep asking the user for positive numbers and add them to a total. Stop when they enter -1 and display the final sum.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5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Let’s Practice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365740" y="960125"/>
            <a:ext cx="7959900" cy="384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0" y="5097780"/>
            <a:ext cx="73152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677375" y="1102889"/>
            <a:ext cx="7085700" cy="3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4. Number Guessing Game</a:t>
            </a:r>
            <a:endParaRPr b="1" sz="1800">
              <a:solidFill>
                <a:srgbClr val="00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Pick a secret number (like 7). Keep asking the user to guess until they get it right. Tell them "Too high" or "Too low" for wrong guesses.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5. Multiplication Practice</a:t>
            </a:r>
            <a:endParaRPr b="1" sz="1800">
              <a:solidFill>
                <a:srgbClr val="00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Ask the user to solve multiplication problems (like 3 x 4). Keep giving new problems until they get one wrong. Count how many they got right. 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6. Power Calculator</a:t>
            </a:r>
            <a:endParaRPr b="1" sz="1800">
              <a:solidFill>
                <a:srgbClr val="00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Ask for a base number. Use a while loop to calculate and print its powers (base, base, base, etc.) until the result exceeds 1000. </a:t>
            </a:r>
            <a:endParaRPr b="1" sz="1900">
              <a:solidFill>
                <a:srgbClr val="00FFFF"/>
              </a:solidFill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8612725" y="4800725"/>
            <a:ext cx="7923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